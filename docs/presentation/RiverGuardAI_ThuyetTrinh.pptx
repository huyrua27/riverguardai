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EF8"/>
                </a:solidFill>
                <a:latin typeface="Arial"/>
              </a:defRPr>
            </a:pPr>
            <a:r>
              <a:rPr sz="1400" b="0" i="0" u="none" strike="noStrike">
                <a:solidFill>
                  <a:srgbClr val="E8EEF8"/>
                </a:solidFill>
                <a:latin typeface="Arial"/>
              </a:rPr>
              <a:t>% phát hiện được nối thành quỹ đạo ≥ 3 frame</a:t>
            </a:r>
          </a:p>
        </c:rich>
      </c:tx>
      <c:layout/>
      <c:overlay val="0"/>
    </c:title>
    <c:autoTitleDeleted val="0"/>
    <c:plotArea>
      <c:layout/>
      <c:barChart>
        <c:barDir val="col"/>
        <c:grouping val="clustered"/>
        <c:varyColors val="0"/>
        <c:ser>
          <c:idx val="0"/>
          <c:order val="0"/>
          <c:tx>
            <c:strRef>
              <c:f>Sheet1!$B$1</c:f>
              <c:strCache>
                <c:ptCount val="1"/>
                <c:pt idx="0">
                  <c:v>A · IoU gốc</c:v>
                </c:pt>
              </c:strCache>
            </c:strRef>
          </c:tx>
          <c:spPr>
            <a:solidFill>
              <a:srgbClr val="5E7194"/>
            </a:solidFill>
            <a:effectLst/>
          </c:spPr>
          <c:invertIfNegative val="0"/>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cat>
            <c:multiLvlStrRef>
              <c:f>Sheet1!$A$2:$A$6</c:f>
              <c:multiLvlStrCache>
                <c:ptCount val="5"/>
                <c:lvl>
                  <c:pt idx="0">
                    <c:v>Cầu A</c:v>
                  </c:pt>
                  <c:pt idx="1">
                    <c:v>Cầu B</c:v>
                  </c:pt>
                  <c:pt idx="2">
                    <c:v>Kênh C</c:v>
                  </c:pt>
                  <c:pt idx="3">
                    <c:v>Kênh D</c:v>
                  </c:pt>
                  <c:pt idx="4">
                    <c:v>Cống E</c:v>
                  </c:pt>
                </c:lvl>
              </c:multiLvlStrCache>
            </c:multiLvlStrRef>
          </c:cat>
          <c:val>
            <c:numRef>
              <c:f>Sheet1!$B$2:$B$6</c:f>
              <c:numCache>
                <c:formatCode>General</c:formatCode>
                <c:ptCount val="5"/>
                <c:pt idx="0">
                  <c:v>32.8</c:v>
                </c:pt>
                <c:pt idx="1">
                  <c:v>51.9</c:v>
                </c:pt>
                <c:pt idx="2">
                  <c:v>11.5</c:v>
                </c:pt>
                <c:pt idx="3">
                  <c:v>29.4</c:v>
                </c:pt>
                <c:pt idx="4">
                  <c:v>36.3</c:v>
                </c:pt>
              </c:numCache>
            </c:numRef>
          </c:val>
        </c:ser>
        <c:ser>
          <c:idx val="1"/>
          <c:order val="1"/>
          <c:tx>
            <c:strRef>
              <c:f>Sheet1!$C$1</c:f>
              <c:strCache>
                <c:ptCount val="1"/>
                <c:pt idx="0">
                  <c:v>B · + dự đoán vận tốc</c:v>
                </c:pt>
              </c:strCache>
            </c:strRef>
          </c:tx>
          <c:spPr>
            <a:solidFill>
              <a:srgbClr val="38BDF8"/>
            </a:solidFill>
            <a:effectLst/>
          </c:spPr>
          <c:invertIfNegative val="0"/>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cat>
            <c:multiLvlStrRef>
              <c:f>Sheet1!$A$2:$A$6</c:f>
              <c:multiLvlStrCache>
                <c:ptCount val="5"/>
                <c:lvl>
                  <c:pt idx="0">
                    <c:v>Cầu A</c:v>
                  </c:pt>
                  <c:pt idx="1">
                    <c:v>Cầu B</c:v>
                  </c:pt>
                  <c:pt idx="2">
                    <c:v>Kênh C</c:v>
                  </c:pt>
                  <c:pt idx="3">
                    <c:v>Kênh D</c:v>
                  </c:pt>
                  <c:pt idx="4">
                    <c:v>Cống E</c:v>
                  </c:pt>
                </c:lvl>
              </c:multiLvlStrCache>
            </c:multiLvlStrRef>
          </c:cat>
          <c:val>
            <c:numRef>
              <c:f>Sheet1!$C$2:$C$6</c:f>
              <c:numCache>
                <c:formatCode>General</c:formatCode>
                <c:ptCount val="5"/>
                <c:pt idx="0">
                  <c:v>32.8</c:v>
                </c:pt>
                <c:pt idx="1">
                  <c:v>54.6</c:v>
                </c:pt>
                <c:pt idx="2">
                  <c:v>37.6</c:v>
                </c:pt>
                <c:pt idx="3">
                  <c:v>30.3</c:v>
                </c:pt>
                <c:pt idx="4">
                  <c:v>39.5</c:v>
                </c:pt>
              </c:numCache>
            </c:numRef>
          </c:val>
        </c:ser>
        <c:ser>
          <c:idx val="2"/>
          <c:order val="2"/>
          <c:tx>
            <c:strRef>
              <c:f>Sheet1!$D$1</c:f>
              <c:strCache>
                <c:ptCount val="1"/>
                <c:pt idx="0">
                  <c:v>C · + ghép khoảng cách tâm</c:v>
                </c:pt>
              </c:strCache>
            </c:strRef>
          </c:tx>
          <c:spPr>
            <a:solidFill>
              <a:srgbClr val="2DD4BF"/>
            </a:solidFill>
            <a:effectLst/>
          </c:spPr>
          <c:invertIfNegative val="0"/>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cat>
            <c:multiLvlStrRef>
              <c:f>Sheet1!$A$2:$A$6</c:f>
              <c:multiLvlStrCache>
                <c:ptCount val="5"/>
                <c:lvl>
                  <c:pt idx="0">
                    <c:v>Cầu A</c:v>
                  </c:pt>
                  <c:pt idx="1">
                    <c:v>Cầu B</c:v>
                  </c:pt>
                  <c:pt idx="2">
                    <c:v>Kênh C</c:v>
                  </c:pt>
                  <c:pt idx="3">
                    <c:v>Kênh D</c:v>
                  </c:pt>
                  <c:pt idx="4">
                    <c:v>Cống E</c:v>
                  </c:pt>
                </c:lvl>
              </c:multiLvlStrCache>
            </c:multiLvlStrRef>
          </c:cat>
          <c:val>
            <c:numRef>
              <c:f>Sheet1!$D$2:$D$6</c:f>
              <c:numCache>
                <c:formatCode>General</c:formatCode>
                <c:ptCount val="5"/>
                <c:pt idx="0">
                  <c:v>60.2</c:v>
                </c:pt>
                <c:pt idx="1">
                  <c:v>80.9</c:v>
                </c:pt>
                <c:pt idx="2">
                  <c:v>80.9</c:v>
                </c:pt>
                <c:pt idx="3">
                  <c:v>84.1</c:v>
                </c:pt>
                <c:pt idx="4">
                  <c:v>76.5</c:v>
                </c:pt>
              </c:numCache>
            </c:numRef>
          </c:val>
        </c:ser>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3A6C6"/>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2395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E7194"/>
                </a:solidFill>
                <a:latin typeface="Calibri"/>
              </a:defRPr>
            </a:pPr>
            <a:endParaRPr lang="en-US"/>
          </a:p>
        </c:txPr>
        <c:crossAx val="2094734554"/>
        <c:crosses val="autoZero"/>
        <c:crossBetween val="between"/>
      </c:valAx>
      <c:spPr>
        <a:solidFill>
          <a:srgbClr val="12233D"/>
        </a:solidFill>
        <a:ln>
          <a:noFill/>
        </a:ln>
        <a:effectLst/>
      </c:spPr>
    </c:plotArea>
    <c:legend>
      <c:legendPos val="b"/>
      <c:overlay val="0"/>
      <c:txPr>
        <a:bodyPr/>
        <a:lstStyle/>
        <a:p>
          <a:pPr>
            <a:defRPr sz="1100">
              <a:solidFill>
                <a:srgbClr val="93A6C6"/>
              </a:solidFill>
              <a:latin typeface="Calibri"/>
              <a:cs typeface="Calibri"/>
            </a:defRPr>
          </a:pPr>
          <a:endParaRPr lang="en-US"/>
        </a:p>
      </c:txPr>
    </c:legend>
    <c:plotVisOnly val="1"/>
    <c:dispBlanksAs val="span"/>
  </c:chart>
  <c:spPr>
    <a:solidFill>
      <a:srgbClr val="12233D"/>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EF8"/>
                </a:solidFill>
                <a:latin typeface="Arial"/>
              </a:defRPr>
            </a:pPr>
            <a:r>
              <a:rPr sz="1400" b="0" i="0" u="none" strike="noStrike">
                <a:solidFill>
                  <a:srgbClr val="E8EEF8"/>
                </a:solidFill>
                <a:latin typeface="Arial"/>
              </a:rPr>
              <a:t>% rủi ro dồn sai vào mép khung hình</a:t>
            </a:r>
          </a:p>
        </c:rich>
      </c:tx>
      <c:layout/>
      <c:overlay val="0"/>
    </c:title>
    <c:autoTitleDeleted val="0"/>
    <c:plotArea>
      <c:layout/>
      <c:barChart>
        <c:barDir val="col"/>
        <c:grouping val="clustered"/>
        <c:varyColors val="0"/>
        <c:ser>
          <c:idx val="0"/>
          <c:order val="0"/>
          <c:tx>
            <c:strRef>
              <c:f>Sheet1!$B$1</c:f>
              <c:strCache>
                <c:ptCount val="1"/>
                <c:pt idx="0">
                  <c:v>Trước: ngoại suy 20 phút</c:v>
                </c:pt>
              </c:strCache>
            </c:strRef>
          </c:tx>
          <c:spPr>
            <a:solidFill>
              <a:srgbClr val="EF4444"/>
            </a:solidFill>
            <a:effectLst/>
          </c:spPr>
          <c:invertIfNegative val="0"/>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cat>
            <c:multiLvlStrRef>
              <c:f>Sheet1!$A$2:$A$6</c:f>
              <c:multiLvlStrCache>
                <c:ptCount val="5"/>
                <c:lvl>
                  <c:pt idx="0">
                    <c:v>Cầu A</c:v>
                  </c:pt>
                  <c:pt idx="1">
                    <c:v>Cầu B</c:v>
                  </c:pt>
                  <c:pt idx="2">
                    <c:v>Kênh C</c:v>
                  </c:pt>
                  <c:pt idx="3">
                    <c:v>Kênh D</c:v>
                  </c:pt>
                  <c:pt idx="4">
                    <c:v>Cống E</c:v>
                  </c:pt>
                </c:lvl>
              </c:multiLvlStrCache>
            </c:multiLvlStrRef>
          </c:cat>
          <c:val>
            <c:numRef>
              <c:f>Sheet1!$B$2:$B$6</c:f>
              <c:numCache>
                <c:formatCode>General</c:formatCode>
                <c:ptCount val="5"/>
                <c:pt idx="0">
                  <c:v>50.6</c:v>
                </c:pt>
                <c:pt idx="1">
                  <c:v>67.4</c:v>
                </c:pt>
                <c:pt idx="2">
                  <c:v>61.2</c:v>
                </c:pt>
                <c:pt idx="3">
                  <c:v>53</c:v>
                </c:pt>
                <c:pt idx="4">
                  <c:v>64.4</c:v>
                </c:pt>
              </c:numCache>
            </c:numRef>
          </c:val>
        </c:ser>
        <c:ser>
          <c:idx val="1"/>
          <c:order val="1"/>
          <c:tx>
            <c:strRef>
              <c:f>Sheet1!$C$1</c:f>
              <c:strCache>
                <c:ptCount val="1"/>
                <c:pt idx="0">
                  <c:v>Sau: ngoại suy 10 giây</c:v>
                </c:pt>
              </c:strCache>
            </c:strRef>
          </c:tx>
          <c:spPr>
            <a:solidFill>
              <a:srgbClr val="2DD4BF"/>
            </a:solidFill>
            <a:effectLst/>
          </c:spPr>
          <c:invertIfNegative val="0"/>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cat>
            <c:multiLvlStrRef>
              <c:f>Sheet1!$A$2:$A$6</c:f>
              <c:multiLvlStrCache>
                <c:ptCount val="5"/>
                <c:lvl>
                  <c:pt idx="0">
                    <c:v>Cầu A</c:v>
                  </c:pt>
                  <c:pt idx="1">
                    <c:v>Cầu B</c:v>
                  </c:pt>
                  <c:pt idx="2">
                    <c:v>Kênh C</c:v>
                  </c:pt>
                  <c:pt idx="3">
                    <c:v>Kênh D</c:v>
                  </c:pt>
                  <c:pt idx="4">
                    <c:v>Cống E</c:v>
                  </c:pt>
                </c:lvl>
              </c:multiLvlStrCache>
            </c:multiLvlStrRef>
          </c:cat>
          <c:val>
            <c:numRef>
              <c:f>Sheet1!$C$2:$C$6</c:f>
              <c:numCache>
                <c:formatCode>General</c:formatCode>
                <c:ptCount val="5"/>
                <c:pt idx="0">
                  <c:v>15.3</c:v>
                </c:pt>
                <c:pt idx="1">
                  <c:v>19.7</c:v>
                </c:pt>
                <c:pt idx="2">
                  <c:v>13.5</c:v>
                </c:pt>
                <c:pt idx="3">
                  <c:v>10.2</c:v>
                </c:pt>
                <c:pt idx="4">
                  <c:v>7.9</c:v>
                </c:pt>
              </c:numCache>
            </c:numRef>
          </c:val>
        </c:ser>
        <c:dLbls>
          <c:numFmt formatCode="0" sourceLinked="0"/>
          <c:txPr>
            <a:bodyPr/>
            <a:lstStyle/>
            <a:p>
              <a:pPr>
                <a:defRPr b="0" i="0" strike="noStrike" sz="900" u="none">
                  <a:solidFill>
                    <a:srgbClr val="E8EEF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3A6C6"/>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2395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E7194"/>
                </a:solidFill>
                <a:latin typeface="Calibri"/>
              </a:defRPr>
            </a:pPr>
            <a:endParaRPr lang="en-US"/>
          </a:p>
        </c:txPr>
        <c:crossAx val="2094734554"/>
        <c:crosses val="autoZero"/>
        <c:crossBetween val="between"/>
      </c:valAx>
      <c:spPr>
        <a:solidFill>
          <a:srgbClr val="12233D"/>
        </a:solidFill>
        <a:ln>
          <a:noFill/>
        </a:ln>
        <a:effectLst/>
      </c:spPr>
    </c:plotArea>
    <c:legend>
      <c:legendPos val="b"/>
      <c:overlay val="0"/>
      <c:txPr>
        <a:bodyPr/>
        <a:lstStyle/>
        <a:p>
          <a:pPr>
            <a:defRPr sz="1100">
              <a:solidFill>
                <a:srgbClr val="93A6C6"/>
              </a:solidFill>
              <a:latin typeface="Calibri"/>
              <a:cs typeface="Calibri"/>
            </a:defRPr>
          </a:pPr>
          <a:endParaRPr lang="en-US"/>
        </a:p>
      </c:txPr>
    </c:legend>
    <c:plotVisOnly val="1"/>
    <c:dispBlanksAs val="span"/>
  </c:chart>
  <c:spPr>
    <a:solidFill>
      <a:srgbClr val="12233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Huy · ~0:14] Xin chào Ban Giám khảo, chúng tôi là đội RiverGuard AI, Bảng C. RiverGuard không chỉ nhìn thấy rác trên sông, mà dự báo rác sẽ dồn về đâu, và nên xử lý chỗ nào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~0:28] Ở TP.HCM và các đô thị nhiều kênh rạch, rác trôi làm tắc dòng chảy, tăng nguy cơ ngập và cuối cùng ra biển. Việc giám sát hiện nay dựa vào người đi kiểm tra hoặc người dân phản ánh — bị động và không liên tục. Nhiều cây cầu đã có camera suốt ngày đêm nhưng dữ liệu chưa được khai thác. Còn các giải pháp hiện có mới trả lời “có rác hay không”, chưa trả lời “nên xử lý chỗ nào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~0:22] RiverGuard giải quyết khoảng trống đó bằng chuỗi bốn bước: Quan sát — phát hiện rác; Hiểu — theo dõi quỹ đạo từng vật thể; Dự báo — vùng nào sắp tích tụ; và Hành động — xếp hạng ưu tiên cho đội thu gom. Điểm mới không nằm ở việc phát hiện rác, mà ở việc ghép trọn chuỗi từ dữ liệu đến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Huy · ~0:28] Về phương pháp, hệ thống có ba tầng. Tầng Nhận thức dùng YOLO-World dạng từ vựng mở để phát hiện rác mà chưa cần huấn luyện, cùng bộ theo vết cải tiến: dự đoán vận tốc và ghép theo khoảng cách tâm để giữ ID cho mảnh rác nhỏ. Tầng Suy luận ước lượng hướng trôi có bù chuyển động camera rồi dự báo điểm nóng. Tầng Quyết định tổng hợp thành rủi ro theo vùng trên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Huy · ~0:22] Mỗi cảnh báo đều giải thích được. Nguy cơ của một vùng là tổng có trọng số của mật độ rác, xu hướng hội tụ và độ tin cậy. Độ tin cậy được nhân với chất lượng của detector, nên khi bằng chứng yếu, hệ thống tự hạ mức cảnh báo thay vì báo động giả. Người vận hành luôn thấy mục “Vì sao” ngay cạnh cảnh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~0:28] Về dữ liệu, chúng tôi dùng năm video tự quay tại kênh rạch TP.HCM, tổng 236 giây, và bộ dữ liệu công khai RiSID với hơn bảy nghìn ảnh có mask rác nhựa. Khi kiểm định RiSID, chúng tôi phát hiện 85% hộp bao gốc sai tỉ lệ, nên đã dựng lại hộp từ polygon. Hơn 60% vật thể nhỏ hơn 32 pixel, và ảnh là các khung hình liên tiếp, nên dữ liệu sẽ được chia theo từng chuỗi video để tránh rò rỉ.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~0:20] Kết quả thứ nhất: sản phẩm chạy đầu–cuối trên dữ liệu thật. Năm nguồn camera, 1.420 khung hình, 1.667 lượt phát hiện, hiển thị trên dashboard gồm camera trực tiếp, cảnh báo, bản đồ rủi ro và hàng đợi ưu tiên toàn mạng. Hệ thống có 26 bài kiểm thử tự động và API để tích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Huy · ~0:28] Kết quả thứ hai là phân tích ablation trên cùng một bộ phát hiện. Ghép theo khoảng cách tâm là thành phần đóng góp chính: tỉ lệ phát hiện được nối thành quỹ đạo tăng từ khoảng 33% lên 76%, trong khi chỉ thêm dự đoán vận tốc thì gần như không cải thiện. Chúng tôi cũng phát hiện và sửa một lỗi dự báo làm 51 đến 67% rủi ro dồn sai vào mép khung hình, giảm còn 8 đến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Huy · ~0:25] Chúng tôi cũng nói rõ điều chưa đạt. Detector hiện là zero-shot, điểm tin cậy chỉ khoảng 0,03 đến 0,06 và còn bỏ sót nhiều mảnh rác nhỏ — vì vậy mọi điểm nóng đang dừng ở mức Trung bình. Chưa có tập kiểm thử gán nhãn nên chúng tôi chưa công bố mAP hay IDF1. Tốc độ khoảng 2,3 khung hình mỗi giây, chưa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~0:22] Về giá trị thực tiễn: đội thu gom biết nên đi đâu trước; cơ quan quản lý có bản đồ rủi ro và số liệu theo từng camera; chính quyền có góc nhìn nhiều camera trên bản đồ. Hệ thống tận dụng camera sẵn có, không nhận diện con người, và người vận hành luôn là người ra quyết định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~0:18] Bước tiếp theo, trước Vòng Khu vực: huấn luyện mô hình phân đoạn trên RiSID ở độ phân giải 1024 và công bố chỉ số thật. Sau đó là camera cố định có hiệu chuẩn, tối ưu tốc độ trên thiết bị biên, và mở rộng nhiều camera kết hợp dữ liệu mưa và thủy triều.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Huy · ~0:13] Toàn bộ mã nguồn, dữ liệu và lịch sử câu lệnh với công cụ AI đều được kê khai đầy đủ trong hồ sơ. RiverGuard AI — nhìn thấy trước để xử lý trước. Cảm ơn Ban Giám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222"/>
        </a:solidFill>
      </p:bgPr>
    </p:bg>
    <p:spTree>
      <p:nvGrpSpPr>
        <p:cNvPr id="1" name=""/>
        <p:cNvGrpSpPr/>
        <p:nvPr/>
      </p:nvGrpSpPr>
      <p:grpSpPr>
        <a:xfrm>
          <a:off x="0" y="0"/>
          <a:ext cx="0" cy="0"/>
          <a:chOff x="0" y="0"/>
          <a:chExt cx="0" cy="0"/>
        </a:xfrm>
      </p:grpSpPr>
      <p:sp>
        <p:nvSpPr>
          <p:cNvPr id="2" name="Shape 0"/>
          <p:cNvSpPr/>
          <p:nvPr/>
        </p:nvSpPr>
        <p:spPr>
          <a:xfrm>
            <a:off x="548640" y="566928"/>
            <a:ext cx="640080" cy="640080"/>
          </a:xfrm>
          <a:prstGeom prst="ellipse">
            <a:avLst/>
          </a:prstGeom>
          <a:solidFill>
            <a:srgbClr val="2DD4BF">
              <a:alpha val="18000"/>
            </a:srgbClr>
          </a:solidFill>
          <a:ln w="12700">
            <a:solidFill>
              <a:srgbClr val="2DD4BF">
                <a:alpha val="60000"/>
              </a:srgbClr>
            </a:solidFill>
            <a:prstDash val="solid"/>
          </a:ln>
        </p:spPr>
      </p:sp>
      <p:pic>
        <p:nvPicPr>
          <p:cNvPr id="3" name="Image 0" descr="preencoded.png">    </p:cNvPr>
          <p:cNvPicPr>
            <a:picLocks noChangeAspect="1"/>
          </p:cNvPicPr>
          <p:nvPr/>
        </p:nvPicPr>
        <p:blipFill>
          <a:blip r:embed="rId1"/>
          <a:stretch>
            <a:fillRect/>
          </a:stretch>
        </p:blipFill>
        <p:spPr>
          <a:xfrm>
            <a:off x="715061" y="733349"/>
            <a:ext cx="307238" cy="307238"/>
          </a:xfrm>
          <a:prstGeom prst="rect">
            <a:avLst/>
          </a:prstGeom>
        </p:spPr>
      </p:pic>
      <p:sp>
        <p:nvSpPr>
          <p:cNvPr id="4" name="Text 1"/>
          <p:cNvSpPr txBox="1"/>
          <p:nvPr/>
        </p:nvSpPr>
        <p:spPr>
          <a:xfrm>
            <a:off x="1371600" y="731520"/>
            <a:ext cx="8229600" cy="32004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2DD4BF"/>
                </a:solidFill>
                <a:latin typeface="Arial" pitchFamily="34" charset="0"/>
                <a:ea typeface="Arial" pitchFamily="34" charset="-122"/>
                <a:cs typeface="Arial" pitchFamily="34" charset="-120"/>
              </a:rPr>
              <a:t>CUỘC THI SÁNG TẠO TRẺ QUỐC GIA VỀ TRÍ TUỆ NHÂN TẠO 2026  ·  BẢNG C</a:t>
            </a:r>
            <a:endParaRPr lang="en-US" sz="1200" dirty="0"/>
          </a:p>
        </p:txBody>
      </p:sp>
      <p:sp>
        <p:nvSpPr>
          <p:cNvPr id="5" name="Text 2"/>
          <p:cNvSpPr txBox="1"/>
          <p:nvPr/>
        </p:nvSpPr>
        <p:spPr>
          <a:xfrm>
            <a:off x="548640" y="1600200"/>
            <a:ext cx="6035040" cy="914400"/>
          </a:xfrm>
          <a:prstGeom prst="rect">
            <a:avLst/>
          </a:prstGeom>
          <a:noFill/>
          <a:ln/>
        </p:spPr>
        <p:txBody>
          <a:bodyPr wrap="square" lIns="0" tIns="0" rIns="0" bIns="0" rtlCol="0" anchor="t"/>
          <a:lstStyle/>
          <a:p>
            <a:pPr algn="l" indent="0" marL="0">
              <a:lnSpc>
                <a:spcPct val="100000"/>
              </a:lnSpc>
              <a:buNone/>
            </a:pPr>
            <a:r>
              <a:rPr lang="en-US" sz="5400" b="1" dirty="0">
                <a:solidFill>
                  <a:srgbClr val="E8EEF8"/>
                </a:solidFill>
                <a:latin typeface="Arial" pitchFamily="34" charset="0"/>
                <a:ea typeface="Arial" pitchFamily="34" charset="-122"/>
                <a:cs typeface="Arial" pitchFamily="34" charset="-120"/>
              </a:rPr>
              <a:t>RiverGuard AI</a:t>
            </a:r>
            <a:endParaRPr lang="en-US" sz="5400" dirty="0"/>
          </a:p>
        </p:txBody>
      </p:sp>
      <p:sp>
        <p:nvSpPr>
          <p:cNvPr id="6" name="Text 3"/>
          <p:cNvSpPr txBox="1"/>
          <p:nvPr/>
        </p:nvSpPr>
        <p:spPr>
          <a:xfrm>
            <a:off x="548640" y="2606040"/>
            <a:ext cx="5760720" cy="777240"/>
          </a:xfrm>
          <a:prstGeom prst="rect">
            <a:avLst/>
          </a:prstGeom>
          <a:noFill/>
          <a:ln/>
        </p:spPr>
        <p:txBody>
          <a:bodyPr wrap="square" lIns="0" tIns="0" rIns="0" bIns="0" rtlCol="0" anchor="t"/>
          <a:lstStyle/>
          <a:p>
            <a:pPr algn="l" indent="0" marL="0">
              <a:lnSpc>
                <a:spcPct val="105000"/>
              </a:lnSpc>
              <a:buNone/>
            </a:pPr>
            <a:r>
              <a:rPr lang="en-US" sz="2000" dirty="0">
                <a:solidFill>
                  <a:srgbClr val="93A6C6"/>
                </a:solidFill>
                <a:latin typeface="Calibri" pitchFamily="34" charset="0"/>
                <a:ea typeface="Calibri" pitchFamily="34" charset="-122"/>
                <a:cs typeface="Calibri" pitchFamily="34" charset="-120"/>
              </a:rPr>
              <a:t>Giám sát, theo dõi động học và dự báo điểm nóng rác thải trôi nổi trên sông</a:t>
            </a:r>
            <a:endParaRPr lang="en-US" sz="2000" dirty="0"/>
          </a:p>
        </p:txBody>
      </p:sp>
      <p:sp>
        <p:nvSpPr>
          <p:cNvPr id="7" name="Text 4"/>
          <p:cNvSpPr txBox="1"/>
          <p:nvPr/>
        </p:nvSpPr>
        <p:spPr>
          <a:xfrm>
            <a:off x="548640" y="3566160"/>
            <a:ext cx="5669280" cy="731520"/>
          </a:xfrm>
          <a:prstGeom prst="rect">
            <a:avLst/>
          </a:prstGeom>
          <a:noFill/>
          <a:ln/>
        </p:spPr>
        <p:txBody>
          <a:bodyPr wrap="square" lIns="0" tIns="0" rIns="0" bIns="0" rtlCol="0" anchor="t"/>
          <a:lstStyle/>
          <a:p>
            <a:pPr algn="l" indent="0" marL="0">
              <a:lnSpc>
                <a:spcPct val="105000"/>
              </a:lnSpc>
              <a:buNone/>
            </a:pPr>
            <a:r>
              <a:rPr lang="en-US" sz="1800" i="1" dirty="0">
                <a:solidFill>
                  <a:srgbClr val="2DD4BF"/>
                </a:solidFill>
                <a:latin typeface="Calibri" pitchFamily="34" charset="0"/>
                <a:ea typeface="Calibri" pitchFamily="34" charset="-122"/>
                <a:cs typeface="Calibri" pitchFamily="34" charset="-120"/>
              </a:rPr>
              <a:t>Không chỉ nhìn thấy rác — dự báo rác sẽ dồn về đâu, và nên xử lý chỗ nào trước.</a:t>
            </a:r>
            <a:endParaRPr lang="en-US" sz="1800" dirty="0"/>
          </a:p>
        </p:txBody>
      </p:sp>
      <p:sp>
        <p:nvSpPr>
          <p:cNvPr id="8" name="Text 5"/>
          <p:cNvSpPr txBox="1"/>
          <p:nvPr/>
        </p:nvSpPr>
        <p:spPr>
          <a:xfrm>
            <a:off x="548640" y="4754880"/>
            <a:ext cx="2743200" cy="320040"/>
          </a:xfrm>
          <a:prstGeom prst="rect">
            <a:avLst/>
          </a:prstGeom>
          <a:noFill/>
          <a:ln/>
        </p:spPr>
        <p:txBody>
          <a:bodyPr wrap="square" lIns="0" tIns="0" rIns="0" bIns="0" rtlCol="0" anchor="t"/>
          <a:lstStyle/>
          <a:p>
            <a:pPr algn="l" indent="0" marL="0">
              <a:lnSpc>
                <a:spcPct val="100000"/>
              </a:lnSpc>
              <a:buNone/>
            </a:pPr>
            <a:r>
              <a:rPr lang="en-US" sz="1500" b="1" dirty="0">
                <a:solidFill>
                  <a:srgbClr val="E8EEF8"/>
                </a:solidFill>
                <a:latin typeface="Calibri" pitchFamily="34" charset="0"/>
                <a:ea typeface="Calibri" pitchFamily="34" charset="-122"/>
                <a:cs typeface="Calibri" pitchFamily="34" charset="-120"/>
              </a:rPr>
              <a:t>Trần Minh Huy</a:t>
            </a:r>
            <a:endParaRPr lang="en-US" sz="1500" dirty="0"/>
          </a:p>
        </p:txBody>
      </p:sp>
      <p:sp>
        <p:nvSpPr>
          <p:cNvPr id="9" name="Text 6"/>
          <p:cNvSpPr txBox="1"/>
          <p:nvPr/>
        </p:nvSpPr>
        <p:spPr>
          <a:xfrm>
            <a:off x="3291840" y="4773168"/>
            <a:ext cx="310896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Trưởng nhóm · AI Lead</a:t>
            </a:r>
            <a:endParaRPr lang="en-US" sz="1300" dirty="0"/>
          </a:p>
        </p:txBody>
      </p:sp>
      <p:sp>
        <p:nvSpPr>
          <p:cNvPr id="10" name="Text 7"/>
          <p:cNvSpPr txBox="1"/>
          <p:nvPr/>
        </p:nvSpPr>
        <p:spPr>
          <a:xfrm>
            <a:off x="548640" y="5138928"/>
            <a:ext cx="2743200" cy="320040"/>
          </a:xfrm>
          <a:prstGeom prst="rect">
            <a:avLst/>
          </a:prstGeom>
          <a:noFill/>
          <a:ln/>
        </p:spPr>
        <p:txBody>
          <a:bodyPr wrap="square" lIns="0" tIns="0" rIns="0" bIns="0" rtlCol="0" anchor="t"/>
          <a:lstStyle/>
          <a:p>
            <a:pPr algn="l" indent="0" marL="0">
              <a:lnSpc>
                <a:spcPct val="100000"/>
              </a:lnSpc>
              <a:buNone/>
            </a:pPr>
            <a:r>
              <a:rPr lang="en-US" sz="1500" b="1" dirty="0">
                <a:solidFill>
                  <a:srgbClr val="E8EEF8"/>
                </a:solidFill>
                <a:latin typeface="Calibri" pitchFamily="34" charset="0"/>
                <a:ea typeface="Calibri" pitchFamily="34" charset="-122"/>
                <a:cs typeface="Calibri" pitchFamily="34" charset="-120"/>
              </a:rPr>
              <a:t>[Tên thành viên 2]</a:t>
            </a:r>
            <a:endParaRPr lang="en-US" sz="1500" dirty="0"/>
          </a:p>
        </p:txBody>
      </p:sp>
      <p:sp>
        <p:nvSpPr>
          <p:cNvPr id="11" name="Text 8"/>
          <p:cNvSpPr txBox="1"/>
          <p:nvPr/>
        </p:nvSpPr>
        <p:spPr>
          <a:xfrm>
            <a:off x="3291840" y="5157216"/>
            <a:ext cx="310896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System &amp; Data Lead</a:t>
            </a:r>
            <a:endParaRPr lang="en-US" sz="1300" dirty="0"/>
          </a:p>
        </p:txBody>
      </p:sp>
      <p:sp>
        <p:nvSpPr>
          <p:cNvPr id="12" name="Text 9"/>
          <p:cNvSpPr txBox="1"/>
          <p:nvPr/>
        </p:nvSpPr>
        <p:spPr>
          <a:xfrm>
            <a:off x="548640" y="5522976"/>
            <a:ext cx="2743200" cy="320040"/>
          </a:xfrm>
          <a:prstGeom prst="rect">
            <a:avLst/>
          </a:prstGeom>
          <a:noFill/>
          <a:ln/>
        </p:spPr>
        <p:txBody>
          <a:bodyPr wrap="square" lIns="0" tIns="0" rIns="0" bIns="0" rtlCol="0" anchor="t"/>
          <a:lstStyle/>
          <a:p>
            <a:pPr algn="l" indent="0" marL="0">
              <a:lnSpc>
                <a:spcPct val="100000"/>
              </a:lnSpc>
              <a:buNone/>
            </a:pPr>
            <a:r>
              <a:rPr lang="en-US" sz="1500" b="1" dirty="0">
                <a:solidFill>
                  <a:srgbClr val="E8EEF8"/>
                </a:solidFill>
                <a:latin typeface="Calibri" pitchFamily="34" charset="0"/>
                <a:ea typeface="Calibri" pitchFamily="34" charset="-122"/>
                <a:cs typeface="Calibri" pitchFamily="34" charset="-120"/>
              </a:rPr>
              <a:t>[Tên thành viên 3]</a:t>
            </a:r>
            <a:endParaRPr lang="en-US" sz="1500" dirty="0"/>
          </a:p>
        </p:txBody>
      </p:sp>
      <p:sp>
        <p:nvSpPr>
          <p:cNvPr id="13" name="Text 10"/>
          <p:cNvSpPr txBox="1"/>
          <p:nvPr/>
        </p:nvSpPr>
        <p:spPr>
          <a:xfrm>
            <a:off x="3291840" y="5541264"/>
            <a:ext cx="310896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Domain &amp; Validation Lead</a:t>
            </a:r>
            <a:endParaRPr lang="en-US" sz="1300" dirty="0"/>
          </a:p>
        </p:txBody>
      </p:sp>
      <p:sp>
        <p:nvSpPr>
          <p:cNvPr id="14" name="Text 11"/>
          <p:cNvSpPr txBox="1"/>
          <p:nvPr/>
        </p:nvSpPr>
        <p:spPr>
          <a:xfrm>
            <a:off x="548640" y="6035040"/>
            <a:ext cx="5486400" cy="274320"/>
          </a:xfrm>
          <a:prstGeom prst="rect">
            <a:avLst/>
          </a:prstGeom>
          <a:noFill/>
          <a:ln/>
        </p:spPr>
        <p:txBody>
          <a:bodyPr wrap="square" lIns="0" tIns="0" rIns="0" bIns="0" rtlCol="0" anchor="t"/>
          <a:lstStyle/>
          <a:p>
            <a:pPr algn="l" indent="0" marL="0">
              <a:lnSpc>
                <a:spcPct val="100000"/>
              </a:lnSpc>
              <a:buNone/>
            </a:pPr>
            <a:r>
              <a:rPr lang="en-US" sz="1200" dirty="0">
                <a:solidFill>
                  <a:srgbClr val="5E7194"/>
                </a:solidFill>
                <a:latin typeface="Calibri" pitchFamily="34" charset="0"/>
                <a:ea typeface="Calibri" pitchFamily="34" charset="-122"/>
                <a:cs typeface="Calibri" pitchFamily="34" charset="-120"/>
              </a:rPr>
              <a:t>Trường Đại học Bách khoa – ĐHQG TP.HCM</a:t>
            </a:r>
            <a:endParaRPr lang="en-US" sz="1200" dirty="0"/>
          </a:p>
        </p:txBody>
      </p:sp>
      <p:sp>
        <p:nvSpPr>
          <p:cNvPr id="15" name="Shape 12"/>
          <p:cNvSpPr/>
          <p:nvPr/>
        </p:nvSpPr>
        <p:spPr>
          <a:xfrm>
            <a:off x="6348679" y="2295144"/>
            <a:ext cx="5330952" cy="2577179"/>
          </a:xfrm>
          <a:prstGeom prst="rect">
            <a:avLst/>
          </a:prstGeom>
          <a:solidFill>
            <a:srgbClr val="22395E"/>
          </a:solidFill>
          <a:ln w="12700">
            <a:solidFill>
              <a:srgbClr val="22395E"/>
            </a:solidFill>
            <a:prstDash val="solid"/>
          </a:ln>
        </p:spPr>
      </p:sp>
      <p:pic>
        <p:nvPicPr>
          <p:cNvPr id="16" name="Image 1" descr="C:/Temp/claude/deck/img/hero.png">    </p:cNvPr>
          <p:cNvPicPr>
            <a:picLocks noChangeAspect="1"/>
          </p:cNvPicPr>
          <p:nvPr/>
        </p:nvPicPr>
        <p:blipFill>
          <a:blip r:embed="rId2"/>
          <a:stretch>
            <a:fillRect/>
          </a:stretch>
        </p:blipFill>
        <p:spPr>
          <a:xfrm>
            <a:off x="6385255" y="2331720"/>
            <a:ext cx="5257800" cy="2504027"/>
          </a:xfrm>
          <a:prstGeom prst="rect">
            <a:avLst/>
          </a:prstGeom>
        </p:spPr>
      </p:pic>
      <p:sp>
        <p:nvSpPr>
          <p:cNvPr id="17" name="Text 13"/>
          <p:cNvSpPr txBox="1"/>
          <p:nvPr/>
        </p:nvSpPr>
        <p:spPr>
          <a:xfrm>
            <a:off x="6385255" y="4972907"/>
            <a:ext cx="5257800" cy="274320"/>
          </a:xfrm>
          <a:prstGeom prst="rect">
            <a:avLst/>
          </a:prstGeom>
          <a:noFill/>
          <a:ln/>
        </p:spPr>
        <p:txBody>
          <a:bodyPr wrap="square" lIns="0" tIns="0" rIns="0" bIns="0" rtlCol="0" anchor="t"/>
          <a:lstStyle/>
          <a:p>
            <a:pPr algn="l" indent="0" marL="0">
              <a:lnSpc>
                <a:spcPct val="100000"/>
              </a:lnSpc>
              <a:buNone/>
            </a:pPr>
            <a:r>
              <a:rPr lang="en-US" sz="1100" i="1" dirty="0">
                <a:solidFill>
                  <a:srgbClr val="5E7194"/>
                </a:solidFill>
                <a:latin typeface="Calibri" pitchFamily="34" charset="0"/>
                <a:ea typeface="Calibri" pitchFamily="34" charset="-122"/>
                <a:cs typeface="Calibri" pitchFamily="34" charset="-120"/>
              </a:rPr>
              <a:t>Ảnh chụp dashboard đang chạy trên video thực địa của đội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pic>
        <p:nvPicPr>
          <p:cNvPr id="2" name="Image 0" descr="C:/Temp/claude/deck/img/canal.jpg">    </p:cNvPr>
          <p:cNvPicPr>
            <a:picLocks noChangeAspect="1"/>
          </p:cNvPicPr>
          <p:nvPr/>
        </p:nvPicPr>
        <p:blipFill>
          <a:blip r:embed="rId1"/>
          <a:srcRect l="0" r="0" t="0" b="0"/>
          <a:stretch/>
        </p:blipFill>
        <p:spPr>
          <a:xfrm>
            <a:off x="0" y="0"/>
            <a:ext cx="4937760" cy="6858000"/>
          </a:xfrm>
          <a:prstGeom prst="rect">
            <a:avLst/>
          </a:prstGeom>
        </p:spPr>
      </p:pic>
      <p:sp>
        <p:nvSpPr>
          <p:cNvPr id="3" name="Shape 0"/>
          <p:cNvSpPr/>
          <p:nvPr/>
        </p:nvSpPr>
        <p:spPr>
          <a:xfrm>
            <a:off x="274320" y="6080760"/>
            <a:ext cx="4389120" cy="457200"/>
          </a:xfrm>
          <a:prstGeom prst="rect">
            <a:avLst/>
          </a:prstGeom>
          <a:solidFill>
            <a:srgbClr val="081222">
              <a:alpha val="80000"/>
            </a:srgbClr>
          </a:solidFill>
          <a:ln w="12700">
            <a:solidFill>
              <a:srgbClr val="081222"/>
            </a:solidFill>
            <a:prstDash val="solid"/>
          </a:ln>
        </p:spPr>
      </p:sp>
      <p:sp>
        <p:nvSpPr>
          <p:cNvPr id="4" name="Text 1"/>
          <p:cNvSpPr txBox="1"/>
          <p:nvPr/>
        </p:nvSpPr>
        <p:spPr>
          <a:xfrm>
            <a:off x="411480" y="6163056"/>
            <a:ext cx="4206240" cy="292608"/>
          </a:xfrm>
          <a:prstGeom prst="rect">
            <a:avLst/>
          </a:prstGeom>
          <a:noFill/>
          <a:ln/>
        </p:spPr>
        <p:txBody>
          <a:bodyPr wrap="square" lIns="0" tIns="0" rIns="0" bIns="0" rtlCol="0" anchor="t"/>
          <a:lstStyle/>
          <a:p>
            <a:pPr algn="l" indent="0" marL="0">
              <a:lnSpc>
                <a:spcPct val="100000"/>
              </a:lnSpc>
              <a:buNone/>
            </a:pPr>
            <a:r>
              <a:rPr lang="en-US" sz="1200" dirty="0">
                <a:solidFill>
                  <a:srgbClr val="E8EEF8"/>
                </a:solidFill>
                <a:latin typeface="Calibri" pitchFamily="34" charset="0"/>
                <a:ea typeface="Calibri" pitchFamily="34" charset="-122"/>
                <a:cs typeface="Calibri" pitchFamily="34" charset="-120"/>
              </a:rPr>
              <a:t>Ảnh thực địa do đội thu thập tại kênh rạch TP.HCM</a:t>
            </a:r>
            <a:endParaRPr lang="en-US" sz="1200" dirty="0"/>
          </a:p>
        </p:txBody>
      </p:sp>
      <p:sp>
        <p:nvSpPr>
          <p:cNvPr id="5" name="Text 2"/>
          <p:cNvSpPr txBox="1"/>
          <p:nvPr/>
        </p:nvSpPr>
        <p:spPr>
          <a:xfrm>
            <a:off x="5486400" y="502920"/>
            <a:ext cx="54864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DD4BF"/>
                </a:solidFill>
                <a:latin typeface="Arial" pitchFamily="34" charset="0"/>
                <a:ea typeface="Arial" pitchFamily="34" charset="-122"/>
                <a:cs typeface="Arial" pitchFamily="34" charset="-120"/>
              </a:rPr>
              <a:t>01 · VẤN ĐỀ</a:t>
            </a:r>
            <a:endParaRPr lang="en-US" sz="1200" dirty="0"/>
          </a:p>
        </p:txBody>
      </p:sp>
      <p:sp>
        <p:nvSpPr>
          <p:cNvPr id="6" name="Text 3"/>
          <p:cNvSpPr txBox="1"/>
          <p:nvPr/>
        </p:nvSpPr>
        <p:spPr>
          <a:xfrm>
            <a:off x="5486400" y="822960"/>
            <a:ext cx="6156655" cy="109728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Rác trên kênh rạch: phát hiện khi đã muộn</a:t>
            </a:r>
            <a:endParaRPr lang="en-US" sz="3000" dirty="0"/>
          </a:p>
        </p:txBody>
      </p:sp>
      <p:sp>
        <p:nvSpPr>
          <p:cNvPr id="7" name="Shape 4"/>
          <p:cNvSpPr/>
          <p:nvPr/>
        </p:nvSpPr>
        <p:spPr>
          <a:xfrm>
            <a:off x="5486400" y="2240280"/>
            <a:ext cx="640080" cy="640080"/>
          </a:xfrm>
          <a:prstGeom prst="ellipse">
            <a:avLst/>
          </a:prstGeom>
          <a:solidFill>
            <a:srgbClr val="2DD4BF">
              <a:alpha val="18000"/>
            </a:srgbClr>
          </a:solidFill>
          <a:ln w="12700">
            <a:solidFill>
              <a:srgbClr val="2DD4BF">
                <a:alpha val="60000"/>
              </a:srgbClr>
            </a:solidFill>
            <a:prstDash val="solid"/>
          </a:ln>
        </p:spPr>
      </p:sp>
      <p:pic>
        <p:nvPicPr>
          <p:cNvPr id="8" name="Image 1" descr="preencoded.png">    </p:cNvPr>
          <p:cNvPicPr>
            <a:picLocks noChangeAspect="1"/>
          </p:cNvPicPr>
          <p:nvPr/>
        </p:nvPicPr>
        <p:blipFill>
          <a:blip r:embed="rId2"/>
          <a:stretch>
            <a:fillRect/>
          </a:stretch>
        </p:blipFill>
        <p:spPr>
          <a:xfrm>
            <a:off x="5652821" y="2406701"/>
            <a:ext cx="307238" cy="307238"/>
          </a:xfrm>
          <a:prstGeom prst="rect">
            <a:avLst/>
          </a:prstGeom>
        </p:spPr>
      </p:pic>
      <p:sp>
        <p:nvSpPr>
          <p:cNvPr id="9" name="Text 5"/>
          <p:cNvSpPr txBox="1"/>
          <p:nvPr/>
        </p:nvSpPr>
        <p:spPr>
          <a:xfrm>
            <a:off x="6355080" y="2221992"/>
            <a:ext cx="5486400" cy="365760"/>
          </a:xfrm>
          <a:prstGeom prst="rect">
            <a:avLst/>
          </a:prstGeom>
          <a:noFill/>
          <a:ln/>
        </p:spPr>
        <p:txBody>
          <a:bodyPr wrap="square" lIns="0" tIns="0" rIns="0" bIns="0" rtlCol="0" anchor="t"/>
          <a:lstStyle/>
          <a:p>
            <a:pPr algn="l" indent="0" marL="0">
              <a:lnSpc>
                <a:spcPct val="100000"/>
              </a:lnSpc>
              <a:buNone/>
            </a:pPr>
            <a:r>
              <a:rPr lang="en-US" sz="1900" b="1" dirty="0">
                <a:solidFill>
                  <a:srgbClr val="E8EEF8"/>
                </a:solidFill>
                <a:latin typeface="Arial" pitchFamily="34" charset="0"/>
                <a:ea typeface="Arial" pitchFamily="34" charset="-122"/>
                <a:cs typeface="Arial" pitchFamily="34" charset="-120"/>
              </a:rPr>
              <a:t>Giám sát thủ công, bị động</a:t>
            </a:r>
            <a:endParaRPr lang="en-US" sz="1900" dirty="0"/>
          </a:p>
        </p:txBody>
      </p:sp>
      <p:sp>
        <p:nvSpPr>
          <p:cNvPr id="10" name="Text 6"/>
          <p:cNvSpPr txBox="1"/>
          <p:nvPr/>
        </p:nvSpPr>
        <p:spPr>
          <a:xfrm>
            <a:off x="6355080" y="2624328"/>
            <a:ext cx="5486400" cy="685800"/>
          </a:xfrm>
          <a:prstGeom prst="rect">
            <a:avLst/>
          </a:prstGeom>
          <a:noFill/>
          <a:ln/>
        </p:spPr>
        <p:txBody>
          <a:bodyPr wrap="square" lIns="0" tIns="0" rIns="0" bIns="0" rtlCol="0" anchor="t"/>
          <a:lstStyle/>
          <a:p>
            <a:pPr algn="l" indent="0" marL="0">
              <a:lnSpc>
                <a:spcPct val="105000"/>
              </a:lnSpc>
              <a:buNone/>
            </a:pPr>
            <a:r>
              <a:rPr lang="en-US" sz="1500" dirty="0">
                <a:solidFill>
                  <a:srgbClr val="93A6C6"/>
                </a:solidFill>
                <a:latin typeface="Calibri" pitchFamily="34" charset="0"/>
                <a:ea typeface="Calibri" pitchFamily="34" charset="-122"/>
                <a:cs typeface="Calibri" pitchFamily="34" charset="-120"/>
              </a:rPr>
              <a:t>Dựa vào người đi tuần và phản ánh của người dân — không liên tục, không định lượng.</a:t>
            </a:r>
            <a:endParaRPr lang="en-US" sz="1500" dirty="0"/>
          </a:p>
        </p:txBody>
      </p:sp>
      <p:sp>
        <p:nvSpPr>
          <p:cNvPr id="11" name="Shape 7"/>
          <p:cNvSpPr/>
          <p:nvPr/>
        </p:nvSpPr>
        <p:spPr>
          <a:xfrm>
            <a:off x="5486400" y="3566160"/>
            <a:ext cx="640080" cy="640080"/>
          </a:xfrm>
          <a:prstGeom prst="ellipse">
            <a:avLst/>
          </a:prstGeom>
          <a:solidFill>
            <a:srgbClr val="2DD4BF">
              <a:alpha val="18000"/>
            </a:srgbClr>
          </a:solidFill>
          <a:ln w="12700">
            <a:solidFill>
              <a:srgbClr val="2DD4BF">
                <a:alpha val="60000"/>
              </a:srgbClr>
            </a:solidFill>
            <a:prstDash val="solid"/>
          </a:ln>
        </p:spPr>
      </p:sp>
      <p:pic>
        <p:nvPicPr>
          <p:cNvPr id="12" name="Image 2" descr="preencoded.png">    </p:cNvPr>
          <p:cNvPicPr>
            <a:picLocks noChangeAspect="1"/>
          </p:cNvPicPr>
          <p:nvPr/>
        </p:nvPicPr>
        <p:blipFill>
          <a:blip r:embed="rId3"/>
          <a:stretch>
            <a:fillRect/>
          </a:stretch>
        </p:blipFill>
        <p:spPr>
          <a:xfrm>
            <a:off x="5652821" y="3732581"/>
            <a:ext cx="307238" cy="307238"/>
          </a:xfrm>
          <a:prstGeom prst="rect">
            <a:avLst/>
          </a:prstGeom>
        </p:spPr>
      </p:pic>
      <p:sp>
        <p:nvSpPr>
          <p:cNvPr id="13" name="Text 8"/>
          <p:cNvSpPr txBox="1"/>
          <p:nvPr/>
        </p:nvSpPr>
        <p:spPr>
          <a:xfrm>
            <a:off x="6355080" y="3547872"/>
            <a:ext cx="5486400" cy="365760"/>
          </a:xfrm>
          <a:prstGeom prst="rect">
            <a:avLst/>
          </a:prstGeom>
          <a:noFill/>
          <a:ln/>
        </p:spPr>
        <p:txBody>
          <a:bodyPr wrap="square" lIns="0" tIns="0" rIns="0" bIns="0" rtlCol="0" anchor="t"/>
          <a:lstStyle/>
          <a:p>
            <a:pPr algn="l" indent="0" marL="0">
              <a:lnSpc>
                <a:spcPct val="100000"/>
              </a:lnSpc>
              <a:buNone/>
            </a:pPr>
            <a:r>
              <a:rPr lang="en-US" sz="1900" b="1" dirty="0">
                <a:solidFill>
                  <a:srgbClr val="E8EEF8"/>
                </a:solidFill>
                <a:latin typeface="Arial" pitchFamily="34" charset="0"/>
                <a:ea typeface="Arial" pitchFamily="34" charset="-122"/>
                <a:cs typeface="Arial" pitchFamily="34" charset="-120"/>
              </a:rPr>
              <a:t>Camera 24/7 nhưng đang “ngủ”</a:t>
            </a:r>
            <a:endParaRPr lang="en-US" sz="1900" dirty="0"/>
          </a:p>
        </p:txBody>
      </p:sp>
      <p:sp>
        <p:nvSpPr>
          <p:cNvPr id="14" name="Text 9"/>
          <p:cNvSpPr txBox="1"/>
          <p:nvPr/>
        </p:nvSpPr>
        <p:spPr>
          <a:xfrm>
            <a:off x="6355080" y="3950208"/>
            <a:ext cx="5486400" cy="685800"/>
          </a:xfrm>
          <a:prstGeom prst="rect">
            <a:avLst/>
          </a:prstGeom>
          <a:noFill/>
          <a:ln/>
        </p:spPr>
        <p:txBody>
          <a:bodyPr wrap="square" lIns="0" tIns="0" rIns="0" bIns="0" rtlCol="0" anchor="t"/>
          <a:lstStyle/>
          <a:p>
            <a:pPr algn="l" indent="0" marL="0">
              <a:lnSpc>
                <a:spcPct val="105000"/>
              </a:lnSpc>
              <a:buNone/>
            </a:pPr>
            <a:r>
              <a:rPr lang="en-US" sz="1500" dirty="0">
                <a:solidFill>
                  <a:srgbClr val="93A6C6"/>
                </a:solidFill>
                <a:latin typeface="Calibri" pitchFamily="34" charset="0"/>
                <a:ea typeface="Calibri" pitchFamily="34" charset="-122"/>
                <a:cs typeface="Calibri" pitchFamily="34" charset="-120"/>
              </a:rPr>
              <a:t>Nhiều cầu, cống đã có camera; dữ liệu hình ảnh chưa được biến thành cảnh báo.</a:t>
            </a:r>
            <a:endParaRPr lang="en-US" sz="1500" dirty="0"/>
          </a:p>
        </p:txBody>
      </p:sp>
      <p:sp>
        <p:nvSpPr>
          <p:cNvPr id="15" name="Shape 10"/>
          <p:cNvSpPr/>
          <p:nvPr/>
        </p:nvSpPr>
        <p:spPr>
          <a:xfrm>
            <a:off x="5486400" y="4892040"/>
            <a:ext cx="640080" cy="640080"/>
          </a:xfrm>
          <a:prstGeom prst="ellipse">
            <a:avLst/>
          </a:prstGeom>
          <a:solidFill>
            <a:srgbClr val="F59E0B">
              <a:alpha val="18000"/>
            </a:srgbClr>
          </a:solidFill>
          <a:ln w="12700">
            <a:solidFill>
              <a:srgbClr val="F59E0B">
                <a:alpha val="60000"/>
              </a:srgbClr>
            </a:solidFill>
            <a:prstDash val="solid"/>
          </a:ln>
        </p:spPr>
      </p:sp>
      <p:pic>
        <p:nvPicPr>
          <p:cNvPr id="16" name="Image 3" descr="preencoded.png">    </p:cNvPr>
          <p:cNvPicPr>
            <a:picLocks noChangeAspect="1"/>
          </p:cNvPicPr>
          <p:nvPr/>
        </p:nvPicPr>
        <p:blipFill>
          <a:blip r:embed="rId4"/>
          <a:stretch>
            <a:fillRect/>
          </a:stretch>
        </p:blipFill>
        <p:spPr>
          <a:xfrm>
            <a:off x="5652821" y="5058461"/>
            <a:ext cx="307238" cy="307238"/>
          </a:xfrm>
          <a:prstGeom prst="rect">
            <a:avLst/>
          </a:prstGeom>
        </p:spPr>
      </p:pic>
      <p:sp>
        <p:nvSpPr>
          <p:cNvPr id="17" name="Text 11"/>
          <p:cNvSpPr txBox="1"/>
          <p:nvPr/>
        </p:nvSpPr>
        <p:spPr>
          <a:xfrm>
            <a:off x="6355080" y="4873752"/>
            <a:ext cx="5486400" cy="365760"/>
          </a:xfrm>
          <a:prstGeom prst="rect">
            <a:avLst/>
          </a:prstGeom>
          <a:noFill/>
          <a:ln/>
        </p:spPr>
        <p:txBody>
          <a:bodyPr wrap="square" lIns="0" tIns="0" rIns="0" bIns="0" rtlCol="0" anchor="t"/>
          <a:lstStyle/>
          <a:p>
            <a:pPr algn="l" indent="0" marL="0">
              <a:lnSpc>
                <a:spcPct val="100000"/>
              </a:lnSpc>
              <a:buNone/>
            </a:pPr>
            <a:r>
              <a:rPr lang="en-US" sz="1900" b="1" dirty="0">
                <a:solidFill>
                  <a:srgbClr val="E8EEF8"/>
                </a:solidFill>
                <a:latin typeface="Arial" pitchFamily="34" charset="0"/>
                <a:ea typeface="Arial" pitchFamily="34" charset="-122"/>
                <a:cs typeface="Arial" pitchFamily="34" charset="-120"/>
              </a:rPr>
              <a:t>Mới trả lời “có rác hay không”</a:t>
            </a:r>
            <a:endParaRPr lang="en-US" sz="1900" dirty="0"/>
          </a:p>
        </p:txBody>
      </p:sp>
      <p:sp>
        <p:nvSpPr>
          <p:cNvPr id="18" name="Text 12"/>
          <p:cNvSpPr txBox="1"/>
          <p:nvPr/>
        </p:nvSpPr>
        <p:spPr>
          <a:xfrm>
            <a:off x="6355080" y="5276088"/>
            <a:ext cx="5486400" cy="685800"/>
          </a:xfrm>
          <a:prstGeom prst="rect">
            <a:avLst/>
          </a:prstGeom>
          <a:noFill/>
          <a:ln/>
        </p:spPr>
        <p:txBody>
          <a:bodyPr wrap="square" lIns="0" tIns="0" rIns="0" bIns="0" rtlCol="0" anchor="t"/>
          <a:lstStyle/>
          <a:p>
            <a:pPr algn="l" indent="0" marL="0">
              <a:lnSpc>
                <a:spcPct val="105000"/>
              </a:lnSpc>
              <a:buNone/>
            </a:pPr>
            <a:r>
              <a:rPr lang="en-US" sz="1500" dirty="0">
                <a:solidFill>
                  <a:srgbClr val="93A6C6"/>
                </a:solidFill>
                <a:latin typeface="Calibri" pitchFamily="34" charset="0"/>
                <a:ea typeface="Calibri" pitchFamily="34" charset="-122"/>
                <a:cs typeface="Calibri" pitchFamily="34" charset="-120"/>
              </a:rPr>
              <a:t>Giải pháp hiện có chưa cho biết rác sẽ dồn về đâu và nên xử lý chỗ nào trước.</a:t>
            </a:r>
            <a:endParaRPr lang="en-US" sz="1500" dirty="0"/>
          </a:p>
        </p:txBody>
      </p:sp>
      <p:sp>
        <p:nvSpPr>
          <p:cNvPr id="19" name="Text 13"/>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2/12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DD4BF"/>
                </a:solidFill>
                <a:latin typeface="Arial" pitchFamily="34" charset="0"/>
                <a:ea typeface="Arial" pitchFamily="34" charset="-122"/>
                <a:cs typeface="Arial" pitchFamily="34" charset="-120"/>
              </a:rPr>
              <a:t>02 · Ý TƯỞNG GIẢI PHÁP</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Từ dữ liệu đến quyết định: 4 bước</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3/12</a:t>
            </a:r>
            <a:endParaRPr lang="en-US" sz="1000" dirty="0"/>
          </a:p>
        </p:txBody>
      </p:sp>
      <p:sp>
        <p:nvSpPr>
          <p:cNvPr id="5" name="Shape 3"/>
          <p:cNvSpPr/>
          <p:nvPr/>
        </p:nvSpPr>
        <p:spPr>
          <a:xfrm>
            <a:off x="548640" y="1691640"/>
            <a:ext cx="2487168" cy="3063240"/>
          </a:xfrm>
          <a:prstGeom prst="roundRect">
            <a:avLst>
              <a:gd name="adj" fmla="val 3676"/>
            </a:avLst>
          </a:prstGeom>
          <a:solidFill>
            <a:srgbClr val="12233D"/>
          </a:solidFill>
          <a:ln w="9525">
            <a:solidFill>
              <a:srgbClr val="22395E"/>
            </a:solidFill>
            <a:prstDash val="solid"/>
          </a:ln>
        </p:spPr>
      </p:sp>
      <p:sp>
        <p:nvSpPr>
          <p:cNvPr id="6" name="Shape 4"/>
          <p:cNvSpPr/>
          <p:nvPr/>
        </p:nvSpPr>
        <p:spPr>
          <a:xfrm>
            <a:off x="822960" y="1965960"/>
            <a:ext cx="658368" cy="658368"/>
          </a:xfrm>
          <a:prstGeom prst="ellipse">
            <a:avLst/>
          </a:prstGeom>
          <a:solidFill>
            <a:srgbClr val="22C55E">
              <a:alpha val="18000"/>
            </a:srgbClr>
          </a:solidFill>
          <a:ln w="12700">
            <a:solidFill>
              <a:srgbClr val="22C55E">
                <a:alpha val="60000"/>
              </a:srgbClr>
            </a:solidFill>
            <a:prstDash val="solid"/>
          </a:ln>
        </p:spPr>
      </p:sp>
      <p:pic>
        <p:nvPicPr>
          <p:cNvPr id="7" name="Image 0" descr="preencoded.png">    </p:cNvPr>
          <p:cNvPicPr>
            <a:picLocks noChangeAspect="1"/>
          </p:cNvPicPr>
          <p:nvPr/>
        </p:nvPicPr>
        <p:blipFill>
          <a:blip r:embed="rId1"/>
          <a:stretch>
            <a:fillRect/>
          </a:stretch>
        </p:blipFill>
        <p:spPr>
          <a:xfrm>
            <a:off x="994136" y="2137136"/>
            <a:ext cx="316017" cy="316017"/>
          </a:xfrm>
          <a:prstGeom prst="rect">
            <a:avLst/>
          </a:prstGeom>
        </p:spPr>
      </p:pic>
      <p:sp>
        <p:nvSpPr>
          <p:cNvPr id="8" name="Text 5"/>
          <p:cNvSpPr txBox="1"/>
          <p:nvPr/>
        </p:nvSpPr>
        <p:spPr>
          <a:xfrm>
            <a:off x="2167128" y="1984248"/>
            <a:ext cx="640080" cy="457200"/>
          </a:xfrm>
          <a:prstGeom prst="rect">
            <a:avLst/>
          </a:prstGeom>
          <a:noFill/>
          <a:ln/>
        </p:spPr>
        <p:txBody>
          <a:bodyPr wrap="square" lIns="0" tIns="0" rIns="0" bIns="0" rtlCol="0" anchor="t"/>
          <a:lstStyle/>
          <a:p>
            <a:pPr algn="r" indent="0" marL="0">
              <a:lnSpc>
                <a:spcPct val="100000"/>
              </a:lnSpc>
              <a:buNone/>
            </a:pPr>
            <a:r>
              <a:rPr lang="en-US" sz="2600" b="1" dirty="0">
                <a:solidFill>
                  <a:srgbClr val="22395E"/>
                </a:solidFill>
                <a:latin typeface="Arial" pitchFamily="34" charset="0"/>
                <a:ea typeface="Arial" pitchFamily="34" charset="-122"/>
                <a:cs typeface="Arial" pitchFamily="34" charset="-120"/>
              </a:rPr>
              <a:t>01</a:t>
            </a:r>
            <a:endParaRPr lang="en-US" sz="2600" dirty="0"/>
          </a:p>
        </p:txBody>
      </p:sp>
      <p:sp>
        <p:nvSpPr>
          <p:cNvPr id="9" name="Text 6"/>
          <p:cNvSpPr txBox="1"/>
          <p:nvPr/>
        </p:nvSpPr>
        <p:spPr>
          <a:xfrm>
            <a:off x="822960" y="2834640"/>
            <a:ext cx="1938528" cy="365760"/>
          </a:xfrm>
          <a:prstGeom prst="rect">
            <a:avLst/>
          </a:prstGeom>
          <a:noFill/>
          <a:ln/>
        </p:spPr>
        <p:txBody>
          <a:bodyPr wrap="square" lIns="0" tIns="0" rIns="0" bIns="0" rtlCol="0" anchor="t"/>
          <a:lstStyle/>
          <a:p>
            <a:pPr algn="l" indent="0" marL="0">
              <a:lnSpc>
                <a:spcPct val="100000"/>
              </a:lnSpc>
              <a:buNone/>
            </a:pPr>
            <a:r>
              <a:rPr lang="en-US" sz="1800" b="1" spc="100" kern="0" dirty="0">
                <a:solidFill>
                  <a:srgbClr val="22C55E"/>
                </a:solidFill>
                <a:latin typeface="Arial" pitchFamily="34" charset="0"/>
                <a:ea typeface="Arial" pitchFamily="34" charset="-122"/>
                <a:cs typeface="Arial" pitchFamily="34" charset="-120"/>
              </a:rPr>
              <a:t>QUAN SÁT</a:t>
            </a:r>
            <a:endParaRPr lang="en-US" sz="1800" dirty="0"/>
          </a:p>
        </p:txBody>
      </p:sp>
      <p:sp>
        <p:nvSpPr>
          <p:cNvPr id="10" name="Text 7"/>
          <p:cNvSpPr txBox="1"/>
          <p:nvPr/>
        </p:nvSpPr>
        <p:spPr>
          <a:xfrm>
            <a:off x="822960" y="3227832"/>
            <a:ext cx="1938528" cy="365760"/>
          </a:xfrm>
          <a:prstGeom prst="rect">
            <a:avLst/>
          </a:prstGeom>
          <a:noFill/>
          <a:ln/>
        </p:spPr>
        <p:txBody>
          <a:bodyPr wrap="square" lIns="0" tIns="0" rIns="0" bIns="0" rtlCol="0" anchor="t"/>
          <a:lstStyle/>
          <a:p>
            <a:pPr algn="l" indent="0" marL="0">
              <a:lnSpc>
                <a:spcPct val="100000"/>
              </a:lnSpc>
              <a:buNone/>
            </a:pPr>
            <a:r>
              <a:rPr lang="en-US" sz="1500" i="1" dirty="0">
                <a:solidFill>
                  <a:srgbClr val="E8EEF8"/>
                </a:solidFill>
                <a:latin typeface="Calibri" pitchFamily="34" charset="0"/>
                <a:ea typeface="Calibri" pitchFamily="34" charset="-122"/>
                <a:cs typeface="Calibri" pitchFamily="34" charset="-120"/>
              </a:rPr>
              <a:t>Đang có gì?</a:t>
            </a:r>
            <a:endParaRPr lang="en-US" sz="1500" dirty="0"/>
          </a:p>
        </p:txBody>
      </p:sp>
      <p:sp>
        <p:nvSpPr>
          <p:cNvPr id="11" name="Text 8"/>
          <p:cNvSpPr txBox="1"/>
          <p:nvPr/>
        </p:nvSpPr>
        <p:spPr>
          <a:xfrm>
            <a:off x="822960" y="3657600"/>
            <a:ext cx="1938528" cy="91440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Phát hiện và phân loại rác trên mặt nước từ camera, drone.</a:t>
            </a:r>
            <a:endParaRPr lang="en-US" sz="1350" dirty="0"/>
          </a:p>
        </p:txBody>
      </p:sp>
      <p:sp>
        <p:nvSpPr>
          <p:cNvPr id="12" name="Shape 9"/>
          <p:cNvSpPr/>
          <p:nvPr/>
        </p:nvSpPr>
        <p:spPr>
          <a:xfrm>
            <a:off x="3090672" y="3223260"/>
            <a:ext cx="256032" cy="0"/>
          </a:xfrm>
          <a:prstGeom prst="line">
            <a:avLst/>
          </a:prstGeom>
          <a:noFill/>
          <a:ln w="22225">
            <a:solidFill>
              <a:srgbClr val="93A6C6"/>
            </a:solidFill>
            <a:prstDash val="solid"/>
            <a:tailEnd type="triangle"/>
          </a:ln>
        </p:spPr>
      </p:sp>
      <p:sp>
        <p:nvSpPr>
          <p:cNvPr id="13" name="Shape 10"/>
          <p:cNvSpPr/>
          <p:nvPr/>
        </p:nvSpPr>
        <p:spPr>
          <a:xfrm>
            <a:off x="3401568" y="1691640"/>
            <a:ext cx="2487168" cy="3063240"/>
          </a:xfrm>
          <a:prstGeom prst="roundRect">
            <a:avLst>
              <a:gd name="adj" fmla="val 3676"/>
            </a:avLst>
          </a:prstGeom>
          <a:solidFill>
            <a:srgbClr val="12233D"/>
          </a:solidFill>
          <a:ln w="9525">
            <a:solidFill>
              <a:srgbClr val="22395E"/>
            </a:solidFill>
            <a:prstDash val="solid"/>
          </a:ln>
        </p:spPr>
      </p:sp>
      <p:sp>
        <p:nvSpPr>
          <p:cNvPr id="14" name="Shape 11"/>
          <p:cNvSpPr/>
          <p:nvPr/>
        </p:nvSpPr>
        <p:spPr>
          <a:xfrm>
            <a:off x="3675888" y="1965960"/>
            <a:ext cx="658368" cy="658368"/>
          </a:xfrm>
          <a:prstGeom prst="ellipse">
            <a:avLst/>
          </a:prstGeom>
          <a:solidFill>
            <a:srgbClr val="22D3EE">
              <a:alpha val="18000"/>
            </a:srgbClr>
          </a:solidFill>
          <a:ln w="12700">
            <a:solidFill>
              <a:srgbClr val="22D3EE">
                <a:alpha val="60000"/>
              </a:srgbClr>
            </a:solidFill>
            <a:prstDash val="solid"/>
          </a:ln>
        </p:spPr>
      </p:sp>
      <p:pic>
        <p:nvPicPr>
          <p:cNvPr id="15" name="Image 1" descr="preencoded.png">    </p:cNvPr>
          <p:cNvPicPr>
            <a:picLocks noChangeAspect="1"/>
          </p:cNvPicPr>
          <p:nvPr/>
        </p:nvPicPr>
        <p:blipFill>
          <a:blip r:embed="rId2"/>
          <a:stretch>
            <a:fillRect/>
          </a:stretch>
        </p:blipFill>
        <p:spPr>
          <a:xfrm>
            <a:off x="3847064" y="2137136"/>
            <a:ext cx="316017" cy="316017"/>
          </a:xfrm>
          <a:prstGeom prst="rect">
            <a:avLst/>
          </a:prstGeom>
        </p:spPr>
      </p:pic>
      <p:sp>
        <p:nvSpPr>
          <p:cNvPr id="16" name="Text 12"/>
          <p:cNvSpPr txBox="1"/>
          <p:nvPr/>
        </p:nvSpPr>
        <p:spPr>
          <a:xfrm>
            <a:off x="5020056" y="1984248"/>
            <a:ext cx="640080" cy="457200"/>
          </a:xfrm>
          <a:prstGeom prst="rect">
            <a:avLst/>
          </a:prstGeom>
          <a:noFill/>
          <a:ln/>
        </p:spPr>
        <p:txBody>
          <a:bodyPr wrap="square" lIns="0" tIns="0" rIns="0" bIns="0" rtlCol="0" anchor="t"/>
          <a:lstStyle/>
          <a:p>
            <a:pPr algn="r" indent="0" marL="0">
              <a:lnSpc>
                <a:spcPct val="100000"/>
              </a:lnSpc>
              <a:buNone/>
            </a:pPr>
            <a:r>
              <a:rPr lang="en-US" sz="2600" b="1" dirty="0">
                <a:solidFill>
                  <a:srgbClr val="22395E"/>
                </a:solidFill>
                <a:latin typeface="Arial" pitchFamily="34" charset="0"/>
                <a:ea typeface="Arial" pitchFamily="34" charset="-122"/>
                <a:cs typeface="Arial" pitchFamily="34" charset="-120"/>
              </a:rPr>
              <a:t>02</a:t>
            </a:r>
            <a:endParaRPr lang="en-US" sz="2600" dirty="0"/>
          </a:p>
        </p:txBody>
      </p:sp>
      <p:sp>
        <p:nvSpPr>
          <p:cNvPr id="17" name="Text 13"/>
          <p:cNvSpPr txBox="1"/>
          <p:nvPr/>
        </p:nvSpPr>
        <p:spPr>
          <a:xfrm>
            <a:off x="3675888" y="2834640"/>
            <a:ext cx="1938528" cy="365760"/>
          </a:xfrm>
          <a:prstGeom prst="rect">
            <a:avLst/>
          </a:prstGeom>
          <a:noFill/>
          <a:ln/>
        </p:spPr>
        <p:txBody>
          <a:bodyPr wrap="square" lIns="0" tIns="0" rIns="0" bIns="0" rtlCol="0" anchor="t"/>
          <a:lstStyle/>
          <a:p>
            <a:pPr algn="l" indent="0" marL="0">
              <a:lnSpc>
                <a:spcPct val="100000"/>
              </a:lnSpc>
              <a:buNone/>
            </a:pPr>
            <a:r>
              <a:rPr lang="en-US" sz="1800" b="1" spc="100" kern="0" dirty="0">
                <a:solidFill>
                  <a:srgbClr val="22D3EE"/>
                </a:solidFill>
                <a:latin typeface="Arial" pitchFamily="34" charset="0"/>
                <a:ea typeface="Arial" pitchFamily="34" charset="-122"/>
                <a:cs typeface="Arial" pitchFamily="34" charset="-120"/>
              </a:rPr>
              <a:t>HIỂU</a:t>
            </a:r>
            <a:endParaRPr lang="en-US" sz="1800" dirty="0"/>
          </a:p>
        </p:txBody>
      </p:sp>
      <p:sp>
        <p:nvSpPr>
          <p:cNvPr id="18" name="Text 14"/>
          <p:cNvSpPr txBox="1"/>
          <p:nvPr/>
        </p:nvSpPr>
        <p:spPr>
          <a:xfrm>
            <a:off x="3675888" y="3227832"/>
            <a:ext cx="1938528" cy="365760"/>
          </a:xfrm>
          <a:prstGeom prst="rect">
            <a:avLst/>
          </a:prstGeom>
          <a:noFill/>
          <a:ln/>
        </p:spPr>
        <p:txBody>
          <a:bodyPr wrap="square" lIns="0" tIns="0" rIns="0" bIns="0" rtlCol="0" anchor="t"/>
          <a:lstStyle/>
          <a:p>
            <a:pPr algn="l" indent="0" marL="0">
              <a:lnSpc>
                <a:spcPct val="100000"/>
              </a:lnSpc>
              <a:buNone/>
            </a:pPr>
            <a:r>
              <a:rPr lang="en-US" sz="1500" i="1" dirty="0">
                <a:solidFill>
                  <a:srgbClr val="E8EEF8"/>
                </a:solidFill>
                <a:latin typeface="Calibri" pitchFamily="34" charset="0"/>
                <a:ea typeface="Calibri" pitchFamily="34" charset="-122"/>
                <a:cs typeface="Calibri" pitchFamily="34" charset="-120"/>
              </a:rPr>
              <a:t>Rác đang đi đâu?</a:t>
            </a:r>
            <a:endParaRPr lang="en-US" sz="1500" dirty="0"/>
          </a:p>
        </p:txBody>
      </p:sp>
      <p:sp>
        <p:nvSpPr>
          <p:cNvPr id="19" name="Text 15"/>
          <p:cNvSpPr txBox="1"/>
          <p:nvPr/>
        </p:nvSpPr>
        <p:spPr>
          <a:xfrm>
            <a:off x="3675888" y="3657600"/>
            <a:ext cx="1938528" cy="91440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Gán ID, dựng quỹ đạo, ước lượng hướng và tốc độ trôi.</a:t>
            </a:r>
            <a:endParaRPr lang="en-US" sz="1350" dirty="0"/>
          </a:p>
        </p:txBody>
      </p:sp>
      <p:sp>
        <p:nvSpPr>
          <p:cNvPr id="20" name="Shape 16"/>
          <p:cNvSpPr/>
          <p:nvPr/>
        </p:nvSpPr>
        <p:spPr>
          <a:xfrm>
            <a:off x="5943600" y="3223260"/>
            <a:ext cx="256032" cy="0"/>
          </a:xfrm>
          <a:prstGeom prst="line">
            <a:avLst/>
          </a:prstGeom>
          <a:noFill/>
          <a:ln w="22225">
            <a:solidFill>
              <a:srgbClr val="93A6C6"/>
            </a:solidFill>
            <a:prstDash val="solid"/>
            <a:tailEnd type="triangle"/>
          </a:ln>
        </p:spPr>
      </p:sp>
      <p:sp>
        <p:nvSpPr>
          <p:cNvPr id="21" name="Shape 17"/>
          <p:cNvSpPr/>
          <p:nvPr/>
        </p:nvSpPr>
        <p:spPr>
          <a:xfrm>
            <a:off x="6254496" y="1691640"/>
            <a:ext cx="2487168" cy="3063240"/>
          </a:xfrm>
          <a:prstGeom prst="roundRect">
            <a:avLst>
              <a:gd name="adj" fmla="val 3676"/>
            </a:avLst>
          </a:prstGeom>
          <a:solidFill>
            <a:srgbClr val="12233D"/>
          </a:solidFill>
          <a:ln w="9525">
            <a:solidFill>
              <a:srgbClr val="22395E"/>
            </a:solidFill>
            <a:prstDash val="solid"/>
          </a:ln>
        </p:spPr>
      </p:sp>
      <p:sp>
        <p:nvSpPr>
          <p:cNvPr id="22" name="Shape 18"/>
          <p:cNvSpPr/>
          <p:nvPr/>
        </p:nvSpPr>
        <p:spPr>
          <a:xfrm>
            <a:off x="6528816" y="1965960"/>
            <a:ext cx="658368" cy="658368"/>
          </a:xfrm>
          <a:prstGeom prst="ellipse">
            <a:avLst/>
          </a:prstGeom>
          <a:solidFill>
            <a:srgbClr val="F59E0B">
              <a:alpha val="18000"/>
            </a:srgbClr>
          </a:solidFill>
          <a:ln w="12700">
            <a:solidFill>
              <a:srgbClr val="F59E0B">
                <a:alpha val="60000"/>
              </a:srgbClr>
            </a:solidFill>
            <a:prstDash val="solid"/>
          </a:ln>
        </p:spPr>
      </p:sp>
      <p:pic>
        <p:nvPicPr>
          <p:cNvPr id="23" name="Image 2" descr="preencoded.png">    </p:cNvPr>
          <p:cNvPicPr>
            <a:picLocks noChangeAspect="1"/>
          </p:cNvPicPr>
          <p:nvPr/>
        </p:nvPicPr>
        <p:blipFill>
          <a:blip r:embed="rId3"/>
          <a:stretch>
            <a:fillRect/>
          </a:stretch>
        </p:blipFill>
        <p:spPr>
          <a:xfrm>
            <a:off x="6699992" y="2137136"/>
            <a:ext cx="316017" cy="316017"/>
          </a:xfrm>
          <a:prstGeom prst="rect">
            <a:avLst/>
          </a:prstGeom>
        </p:spPr>
      </p:pic>
      <p:sp>
        <p:nvSpPr>
          <p:cNvPr id="24" name="Text 19"/>
          <p:cNvSpPr txBox="1"/>
          <p:nvPr/>
        </p:nvSpPr>
        <p:spPr>
          <a:xfrm>
            <a:off x="7872984" y="1984248"/>
            <a:ext cx="640080" cy="457200"/>
          </a:xfrm>
          <a:prstGeom prst="rect">
            <a:avLst/>
          </a:prstGeom>
          <a:noFill/>
          <a:ln/>
        </p:spPr>
        <p:txBody>
          <a:bodyPr wrap="square" lIns="0" tIns="0" rIns="0" bIns="0" rtlCol="0" anchor="t"/>
          <a:lstStyle/>
          <a:p>
            <a:pPr algn="r" indent="0" marL="0">
              <a:lnSpc>
                <a:spcPct val="100000"/>
              </a:lnSpc>
              <a:buNone/>
            </a:pPr>
            <a:r>
              <a:rPr lang="en-US" sz="2600" b="1" dirty="0">
                <a:solidFill>
                  <a:srgbClr val="22395E"/>
                </a:solidFill>
                <a:latin typeface="Arial" pitchFamily="34" charset="0"/>
                <a:ea typeface="Arial" pitchFamily="34" charset="-122"/>
                <a:cs typeface="Arial" pitchFamily="34" charset="-120"/>
              </a:rPr>
              <a:t>03</a:t>
            </a:r>
            <a:endParaRPr lang="en-US" sz="2600" dirty="0"/>
          </a:p>
        </p:txBody>
      </p:sp>
      <p:sp>
        <p:nvSpPr>
          <p:cNvPr id="25" name="Text 20"/>
          <p:cNvSpPr txBox="1"/>
          <p:nvPr/>
        </p:nvSpPr>
        <p:spPr>
          <a:xfrm>
            <a:off x="6528816" y="2834640"/>
            <a:ext cx="1938528" cy="365760"/>
          </a:xfrm>
          <a:prstGeom prst="rect">
            <a:avLst/>
          </a:prstGeom>
          <a:noFill/>
          <a:ln/>
        </p:spPr>
        <p:txBody>
          <a:bodyPr wrap="square" lIns="0" tIns="0" rIns="0" bIns="0" rtlCol="0" anchor="t"/>
          <a:lstStyle/>
          <a:p>
            <a:pPr algn="l" indent="0" marL="0">
              <a:lnSpc>
                <a:spcPct val="100000"/>
              </a:lnSpc>
              <a:buNone/>
            </a:pPr>
            <a:r>
              <a:rPr lang="en-US" sz="1800" b="1" spc="100" kern="0" dirty="0">
                <a:solidFill>
                  <a:srgbClr val="F59E0B"/>
                </a:solidFill>
                <a:latin typeface="Arial" pitchFamily="34" charset="0"/>
                <a:ea typeface="Arial" pitchFamily="34" charset="-122"/>
                <a:cs typeface="Arial" pitchFamily="34" charset="-120"/>
              </a:rPr>
              <a:t>DỰ BÁO</a:t>
            </a:r>
            <a:endParaRPr lang="en-US" sz="1800" dirty="0"/>
          </a:p>
        </p:txBody>
      </p:sp>
      <p:sp>
        <p:nvSpPr>
          <p:cNvPr id="26" name="Text 21"/>
          <p:cNvSpPr txBox="1"/>
          <p:nvPr/>
        </p:nvSpPr>
        <p:spPr>
          <a:xfrm>
            <a:off x="6528816" y="3227832"/>
            <a:ext cx="1938528" cy="365760"/>
          </a:xfrm>
          <a:prstGeom prst="rect">
            <a:avLst/>
          </a:prstGeom>
          <a:noFill/>
          <a:ln/>
        </p:spPr>
        <p:txBody>
          <a:bodyPr wrap="square" lIns="0" tIns="0" rIns="0" bIns="0" rtlCol="0" anchor="t"/>
          <a:lstStyle/>
          <a:p>
            <a:pPr algn="l" indent="0" marL="0">
              <a:lnSpc>
                <a:spcPct val="100000"/>
              </a:lnSpc>
              <a:buNone/>
            </a:pPr>
            <a:r>
              <a:rPr lang="en-US" sz="1500" i="1" dirty="0">
                <a:solidFill>
                  <a:srgbClr val="E8EEF8"/>
                </a:solidFill>
                <a:latin typeface="Calibri" pitchFamily="34" charset="0"/>
                <a:ea typeface="Calibri" pitchFamily="34" charset="-122"/>
                <a:cs typeface="Calibri" pitchFamily="34" charset="-120"/>
              </a:rPr>
              <a:t>Sẽ dồn về đâu?</a:t>
            </a:r>
            <a:endParaRPr lang="en-US" sz="1500" dirty="0"/>
          </a:p>
        </p:txBody>
      </p:sp>
      <p:sp>
        <p:nvSpPr>
          <p:cNvPr id="27" name="Text 22"/>
          <p:cNvSpPr txBox="1"/>
          <p:nvPr/>
        </p:nvSpPr>
        <p:spPr>
          <a:xfrm>
            <a:off x="6528816" y="3657600"/>
            <a:ext cx="1938528" cy="91440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Xác định vùng sắp hình thành cụm rác (điểm nóng).</a:t>
            </a:r>
            <a:endParaRPr lang="en-US" sz="1350" dirty="0"/>
          </a:p>
        </p:txBody>
      </p:sp>
      <p:sp>
        <p:nvSpPr>
          <p:cNvPr id="28" name="Shape 23"/>
          <p:cNvSpPr/>
          <p:nvPr/>
        </p:nvSpPr>
        <p:spPr>
          <a:xfrm>
            <a:off x="8796528" y="3223260"/>
            <a:ext cx="256032" cy="0"/>
          </a:xfrm>
          <a:prstGeom prst="line">
            <a:avLst/>
          </a:prstGeom>
          <a:noFill/>
          <a:ln w="22225">
            <a:solidFill>
              <a:srgbClr val="93A6C6"/>
            </a:solidFill>
            <a:prstDash val="solid"/>
            <a:tailEnd type="triangle"/>
          </a:ln>
        </p:spPr>
      </p:sp>
      <p:sp>
        <p:nvSpPr>
          <p:cNvPr id="29" name="Shape 24"/>
          <p:cNvSpPr/>
          <p:nvPr/>
        </p:nvSpPr>
        <p:spPr>
          <a:xfrm>
            <a:off x="9107424" y="1691640"/>
            <a:ext cx="2487168" cy="3063240"/>
          </a:xfrm>
          <a:prstGeom prst="roundRect">
            <a:avLst>
              <a:gd name="adj" fmla="val 3676"/>
            </a:avLst>
          </a:prstGeom>
          <a:solidFill>
            <a:srgbClr val="12233D"/>
          </a:solidFill>
          <a:ln w="9525">
            <a:solidFill>
              <a:srgbClr val="22395E"/>
            </a:solidFill>
            <a:prstDash val="solid"/>
          </a:ln>
        </p:spPr>
      </p:sp>
      <p:sp>
        <p:nvSpPr>
          <p:cNvPr id="30" name="Shape 25"/>
          <p:cNvSpPr/>
          <p:nvPr/>
        </p:nvSpPr>
        <p:spPr>
          <a:xfrm>
            <a:off x="9381744" y="1965960"/>
            <a:ext cx="658368" cy="658368"/>
          </a:xfrm>
          <a:prstGeom prst="ellipse">
            <a:avLst/>
          </a:prstGeom>
          <a:solidFill>
            <a:srgbClr val="EF4444">
              <a:alpha val="18000"/>
            </a:srgbClr>
          </a:solidFill>
          <a:ln w="12700">
            <a:solidFill>
              <a:srgbClr val="EF4444">
                <a:alpha val="60000"/>
              </a:srgbClr>
            </a:solidFill>
            <a:prstDash val="solid"/>
          </a:ln>
        </p:spPr>
      </p:sp>
      <p:pic>
        <p:nvPicPr>
          <p:cNvPr id="31" name="Image 3" descr="preencoded.png">    </p:cNvPr>
          <p:cNvPicPr>
            <a:picLocks noChangeAspect="1"/>
          </p:cNvPicPr>
          <p:nvPr/>
        </p:nvPicPr>
        <p:blipFill>
          <a:blip r:embed="rId4"/>
          <a:stretch>
            <a:fillRect/>
          </a:stretch>
        </p:blipFill>
        <p:spPr>
          <a:xfrm>
            <a:off x="9552920" y="2137136"/>
            <a:ext cx="316017" cy="316017"/>
          </a:xfrm>
          <a:prstGeom prst="rect">
            <a:avLst/>
          </a:prstGeom>
        </p:spPr>
      </p:pic>
      <p:sp>
        <p:nvSpPr>
          <p:cNvPr id="32" name="Text 26"/>
          <p:cNvSpPr txBox="1"/>
          <p:nvPr/>
        </p:nvSpPr>
        <p:spPr>
          <a:xfrm>
            <a:off x="10725912" y="1984248"/>
            <a:ext cx="640080" cy="457200"/>
          </a:xfrm>
          <a:prstGeom prst="rect">
            <a:avLst/>
          </a:prstGeom>
          <a:noFill/>
          <a:ln/>
        </p:spPr>
        <p:txBody>
          <a:bodyPr wrap="square" lIns="0" tIns="0" rIns="0" bIns="0" rtlCol="0" anchor="t"/>
          <a:lstStyle/>
          <a:p>
            <a:pPr algn="r" indent="0" marL="0">
              <a:lnSpc>
                <a:spcPct val="100000"/>
              </a:lnSpc>
              <a:buNone/>
            </a:pPr>
            <a:r>
              <a:rPr lang="en-US" sz="2600" b="1" dirty="0">
                <a:solidFill>
                  <a:srgbClr val="22395E"/>
                </a:solidFill>
                <a:latin typeface="Arial" pitchFamily="34" charset="0"/>
                <a:ea typeface="Arial" pitchFamily="34" charset="-122"/>
                <a:cs typeface="Arial" pitchFamily="34" charset="-120"/>
              </a:rPr>
              <a:t>04</a:t>
            </a:r>
            <a:endParaRPr lang="en-US" sz="2600" dirty="0"/>
          </a:p>
        </p:txBody>
      </p:sp>
      <p:sp>
        <p:nvSpPr>
          <p:cNvPr id="33" name="Text 27"/>
          <p:cNvSpPr txBox="1"/>
          <p:nvPr/>
        </p:nvSpPr>
        <p:spPr>
          <a:xfrm>
            <a:off x="9381744" y="2834640"/>
            <a:ext cx="1938528" cy="365760"/>
          </a:xfrm>
          <a:prstGeom prst="rect">
            <a:avLst/>
          </a:prstGeom>
          <a:noFill/>
          <a:ln/>
        </p:spPr>
        <p:txBody>
          <a:bodyPr wrap="square" lIns="0" tIns="0" rIns="0" bIns="0" rtlCol="0" anchor="t"/>
          <a:lstStyle/>
          <a:p>
            <a:pPr algn="l" indent="0" marL="0">
              <a:lnSpc>
                <a:spcPct val="100000"/>
              </a:lnSpc>
              <a:buNone/>
            </a:pPr>
            <a:r>
              <a:rPr lang="en-US" sz="1800" b="1" spc="100" kern="0" dirty="0">
                <a:solidFill>
                  <a:srgbClr val="EF4444"/>
                </a:solidFill>
                <a:latin typeface="Arial" pitchFamily="34" charset="0"/>
                <a:ea typeface="Arial" pitchFamily="34" charset="-122"/>
                <a:cs typeface="Arial" pitchFamily="34" charset="-120"/>
              </a:rPr>
              <a:t>HÀNH ĐỘNG</a:t>
            </a:r>
            <a:endParaRPr lang="en-US" sz="1800" dirty="0"/>
          </a:p>
        </p:txBody>
      </p:sp>
      <p:sp>
        <p:nvSpPr>
          <p:cNvPr id="34" name="Text 28"/>
          <p:cNvSpPr txBox="1"/>
          <p:nvPr/>
        </p:nvSpPr>
        <p:spPr>
          <a:xfrm>
            <a:off x="9381744" y="3227832"/>
            <a:ext cx="1938528" cy="365760"/>
          </a:xfrm>
          <a:prstGeom prst="rect">
            <a:avLst/>
          </a:prstGeom>
          <a:noFill/>
          <a:ln/>
        </p:spPr>
        <p:txBody>
          <a:bodyPr wrap="square" lIns="0" tIns="0" rIns="0" bIns="0" rtlCol="0" anchor="t"/>
          <a:lstStyle/>
          <a:p>
            <a:pPr algn="l" indent="0" marL="0">
              <a:lnSpc>
                <a:spcPct val="100000"/>
              </a:lnSpc>
              <a:buNone/>
            </a:pPr>
            <a:r>
              <a:rPr lang="en-US" sz="1500" i="1" dirty="0">
                <a:solidFill>
                  <a:srgbClr val="E8EEF8"/>
                </a:solidFill>
                <a:latin typeface="Calibri" pitchFamily="34" charset="0"/>
                <a:ea typeface="Calibri" pitchFamily="34" charset="-122"/>
                <a:cs typeface="Calibri" pitchFamily="34" charset="-120"/>
              </a:rPr>
              <a:t>Xử lý chỗ nào trước?</a:t>
            </a:r>
            <a:endParaRPr lang="en-US" sz="1500" dirty="0"/>
          </a:p>
        </p:txBody>
      </p:sp>
      <p:sp>
        <p:nvSpPr>
          <p:cNvPr id="35" name="Text 29"/>
          <p:cNvSpPr txBox="1"/>
          <p:nvPr/>
        </p:nvSpPr>
        <p:spPr>
          <a:xfrm>
            <a:off x="9381744" y="3657600"/>
            <a:ext cx="1938528" cy="91440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Chấm điểm rủi ro, xếp hàng ưu tiên cho đội thu gom.</a:t>
            </a:r>
            <a:endParaRPr lang="en-US" sz="1350" dirty="0"/>
          </a:p>
        </p:txBody>
      </p:sp>
      <p:sp>
        <p:nvSpPr>
          <p:cNvPr id="36" name="Shape 30"/>
          <p:cNvSpPr/>
          <p:nvPr/>
        </p:nvSpPr>
        <p:spPr>
          <a:xfrm>
            <a:off x="548640" y="5074920"/>
            <a:ext cx="11094415" cy="1005840"/>
          </a:xfrm>
          <a:prstGeom prst="roundRect">
            <a:avLst>
              <a:gd name="adj" fmla="val 9091"/>
            </a:avLst>
          </a:prstGeom>
          <a:solidFill>
            <a:srgbClr val="172B4A"/>
          </a:solidFill>
          <a:ln w="9525">
            <a:solidFill>
              <a:srgbClr val="22395E"/>
            </a:solidFill>
            <a:prstDash val="solid"/>
          </a:ln>
        </p:spPr>
      </p:sp>
      <p:sp>
        <p:nvSpPr>
          <p:cNvPr id="37" name="Shape 31"/>
          <p:cNvSpPr/>
          <p:nvPr/>
        </p:nvSpPr>
        <p:spPr>
          <a:xfrm>
            <a:off x="822960" y="5257800"/>
            <a:ext cx="640080" cy="640080"/>
          </a:xfrm>
          <a:prstGeom prst="ellipse">
            <a:avLst/>
          </a:prstGeom>
          <a:solidFill>
            <a:srgbClr val="2DD4BF">
              <a:alpha val="18000"/>
            </a:srgbClr>
          </a:solidFill>
          <a:ln w="12700">
            <a:solidFill>
              <a:srgbClr val="2DD4BF">
                <a:alpha val="60000"/>
              </a:srgbClr>
            </a:solidFill>
            <a:prstDash val="solid"/>
          </a:ln>
        </p:spPr>
      </p:sp>
      <p:pic>
        <p:nvPicPr>
          <p:cNvPr id="38" name="Image 4" descr="preencoded.png">    </p:cNvPr>
          <p:cNvPicPr>
            <a:picLocks noChangeAspect="1"/>
          </p:cNvPicPr>
          <p:nvPr/>
        </p:nvPicPr>
        <p:blipFill>
          <a:blip r:embed="rId5"/>
          <a:stretch>
            <a:fillRect/>
          </a:stretch>
        </p:blipFill>
        <p:spPr>
          <a:xfrm>
            <a:off x="989381" y="5424221"/>
            <a:ext cx="307238" cy="307238"/>
          </a:xfrm>
          <a:prstGeom prst="rect">
            <a:avLst/>
          </a:prstGeom>
        </p:spPr>
      </p:pic>
      <p:sp>
        <p:nvSpPr>
          <p:cNvPr id="39" name="Text 32"/>
          <p:cNvSpPr txBox="1"/>
          <p:nvPr/>
        </p:nvSpPr>
        <p:spPr>
          <a:xfrm>
            <a:off x="1691640" y="5230368"/>
            <a:ext cx="9601200" cy="365760"/>
          </a:xfrm>
          <a:prstGeom prst="rect">
            <a:avLst/>
          </a:prstGeom>
          <a:noFill/>
          <a:ln/>
        </p:spPr>
        <p:txBody>
          <a:bodyPr wrap="square" lIns="0" tIns="0" rIns="0" bIns="0" rtlCol="0" anchor="t"/>
          <a:lstStyle/>
          <a:p>
            <a:pPr algn="l" indent="0" marL="0">
              <a:lnSpc>
                <a:spcPct val="100000"/>
              </a:lnSpc>
              <a:buNone/>
            </a:pPr>
            <a:r>
              <a:rPr lang="en-US" sz="1700" b="1" dirty="0">
                <a:solidFill>
                  <a:srgbClr val="E8EEF8"/>
                </a:solidFill>
                <a:latin typeface="Calibri" pitchFamily="34" charset="0"/>
                <a:ea typeface="Calibri" pitchFamily="34" charset="-122"/>
                <a:cs typeface="Calibri" pitchFamily="34" charset="-120"/>
              </a:rPr>
              <a:t>Điểm mới không nằm ở phát hiện rác, mà ở việc ghép trọn chuỗi từ dữ liệu đến quyết định.</a:t>
            </a:r>
            <a:endParaRPr lang="en-US" sz="1700" dirty="0"/>
          </a:p>
        </p:txBody>
      </p:sp>
      <p:sp>
        <p:nvSpPr>
          <p:cNvPr id="40" name="Text 33"/>
          <p:cNvSpPr txBox="1"/>
          <p:nvPr/>
        </p:nvSpPr>
        <p:spPr>
          <a:xfrm>
            <a:off x="1691640" y="5596128"/>
            <a:ext cx="9601200" cy="365760"/>
          </a:xfrm>
          <a:prstGeom prst="rect">
            <a:avLst/>
          </a:prstGeom>
          <a:noFill/>
          <a:ln/>
        </p:spPr>
        <p:txBody>
          <a:bodyPr wrap="square" lIns="0" tIns="0" rIns="0" bIns="0" rtlCol="0" anchor="t"/>
          <a:lstStyle/>
          <a:p>
            <a:pPr algn="l" indent="0" marL="0">
              <a:lnSpc>
                <a:spcPct val="100000"/>
              </a:lnSpc>
              <a:buNone/>
            </a:pPr>
            <a:r>
              <a:rPr lang="en-US" sz="1400" dirty="0">
                <a:solidFill>
                  <a:srgbClr val="93A6C6"/>
                </a:solidFill>
                <a:latin typeface="Calibri" pitchFamily="34" charset="0"/>
                <a:ea typeface="Calibri" pitchFamily="34" charset="-122"/>
                <a:cs typeface="Calibri" pitchFamily="34" charset="-120"/>
              </a:rPr>
              <a:t>Các giải pháp hiện có thường dừng ở bước 01. RiverGuard nối tiếp đến bước 04: một cảnh báo có thể hành động.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DD4BF"/>
                </a:solidFill>
                <a:latin typeface="Arial" pitchFamily="34" charset="0"/>
                <a:ea typeface="Arial" pitchFamily="34" charset="-122"/>
                <a:cs typeface="Arial" pitchFamily="34" charset="-120"/>
              </a:rPr>
              <a:t>03 · PHƯƠNG PHÁP</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Kiến trúc 3 tầng: Nhận thức → Suy luận → Quyết định</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4/12</a:t>
            </a:r>
            <a:endParaRPr lang="en-US" sz="1000" dirty="0"/>
          </a:p>
        </p:txBody>
      </p:sp>
      <p:sp>
        <p:nvSpPr>
          <p:cNvPr id="5" name="Shape 3"/>
          <p:cNvSpPr/>
          <p:nvPr/>
        </p:nvSpPr>
        <p:spPr>
          <a:xfrm>
            <a:off x="411480" y="2743200"/>
            <a:ext cx="1234440" cy="1600200"/>
          </a:xfrm>
          <a:prstGeom prst="roundRect">
            <a:avLst>
              <a:gd name="adj" fmla="val 7407"/>
            </a:avLst>
          </a:prstGeom>
          <a:solidFill>
            <a:srgbClr val="172B4A"/>
          </a:solidFill>
          <a:ln w="9525">
            <a:solidFill>
              <a:srgbClr val="22395E"/>
            </a:solidFill>
            <a:prstDash val="solid"/>
          </a:ln>
        </p:spPr>
      </p:sp>
      <p:sp>
        <p:nvSpPr>
          <p:cNvPr id="6" name="Shape 4"/>
          <p:cNvSpPr/>
          <p:nvPr/>
        </p:nvSpPr>
        <p:spPr>
          <a:xfrm>
            <a:off x="731520" y="2898648"/>
            <a:ext cx="594360" cy="594360"/>
          </a:xfrm>
          <a:prstGeom prst="ellipse">
            <a:avLst/>
          </a:prstGeom>
          <a:solidFill>
            <a:srgbClr val="22D3EE">
              <a:alpha val="18000"/>
            </a:srgbClr>
          </a:solidFill>
          <a:ln w="12700">
            <a:solidFill>
              <a:srgbClr val="22D3EE">
                <a:alpha val="60000"/>
              </a:srgbClr>
            </a:solidFill>
            <a:prstDash val="solid"/>
          </a:ln>
        </p:spPr>
      </p:sp>
      <p:pic>
        <p:nvPicPr>
          <p:cNvPr id="7" name="Image 0" descr="preencoded.png">    </p:cNvPr>
          <p:cNvPicPr>
            <a:picLocks noChangeAspect="1"/>
          </p:cNvPicPr>
          <p:nvPr/>
        </p:nvPicPr>
        <p:blipFill>
          <a:blip r:embed="rId1"/>
          <a:stretch>
            <a:fillRect/>
          </a:stretch>
        </p:blipFill>
        <p:spPr>
          <a:xfrm>
            <a:off x="886054" y="3053182"/>
            <a:ext cx="285293" cy="285293"/>
          </a:xfrm>
          <a:prstGeom prst="rect">
            <a:avLst/>
          </a:prstGeom>
        </p:spPr>
      </p:pic>
      <p:sp>
        <p:nvSpPr>
          <p:cNvPr id="8" name="Text 5"/>
          <p:cNvSpPr txBox="1"/>
          <p:nvPr/>
        </p:nvSpPr>
        <p:spPr>
          <a:xfrm>
            <a:off x="457200" y="3566160"/>
            <a:ext cx="1143000" cy="640080"/>
          </a:xfrm>
          <a:prstGeom prst="rect">
            <a:avLst/>
          </a:prstGeom>
          <a:noFill/>
          <a:ln/>
        </p:spPr>
        <p:txBody>
          <a:bodyPr wrap="square" lIns="0" tIns="0" rIns="0" bIns="0" rtlCol="0" anchor="t"/>
          <a:lstStyle/>
          <a:p>
            <a:pPr algn="ctr" indent="0" marL="0">
              <a:lnSpc>
                <a:spcPct val="100000"/>
              </a:lnSpc>
              <a:buNone/>
            </a:pPr>
            <a:r>
              <a:rPr lang="en-US" sz="1250" b="1" dirty="0">
                <a:solidFill>
                  <a:srgbClr val="E8EEF8"/>
                </a:solidFill>
                <a:latin typeface="Calibri" pitchFamily="34" charset="0"/>
                <a:ea typeface="Calibri" pitchFamily="34" charset="-122"/>
                <a:cs typeface="Calibri" pitchFamily="34" charset="-120"/>
              </a:rPr>
              <a:t>Camera</a:t>
            </a:r>
            <a:endParaRPr lang="en-US" sz="1250" dirty="0"/>
          </a:p>
          <a:p>
            <a:pPr algn="ctr" indent="0" marL="0">
              <a:lnSpc>
                <a:spcPct val="100000"/>
              </a:lnSpc>
              <a:buNone/>
            </a:pPr>
            <a:r>
              <a:rPr lang="en-US" sz="1250" b="1" dirty="0">
                <a:solidFill>
                  <a:srgbClr val="E8EEF8"/>
                </a:solidFill>
                <a:latin typeface="Calibri" pitchFamily="34" charset="0"/>
                <a:ea typeface="Calibri" pitchFamily="34" charset="-122"/>
                <a:cs typeface="Calibri" pitchFamily="34" charset="-120"/>
              </a:rPr>
              <a:t>drone · video</a:t>
            </a:r>
            <a:endParaRPr lang="en-US" sz="1250" dirty="0"/>
          </a:p>
        </p:txBody>
      </p:sp>
      <p:sp>
        <p:nvSpPr>
          <p:cNvPr id="9" name="Shape 6"/>
          <p:cNvSpPr/>
          <p:nvPr/>
        </p:nvSpPr>
        <p:spPr>
          <a:xfrm>
            <a:off x="1664208" y="3543300"/>
            <a:ext cx="219456" cy="0"/>
          </a:xfrm>
          <a:prstGeom prst="line">
            <a:avLst/>
          </a:prstGeom>
          <a:noFill/>
          <a:ln w="22225">
            <a:solidFill>
              <a:srgbClr val="93A6C6"/>
            </a:solidFill>
            <a:prstDash val="solid"/>
            <a:tailEnd type="triangle"/>
          </a:ln>
        </p:spPr>
      </p:sp>
      <p:sp>
        <p:nvSpPr>
          <p:cNvPr id="10" name="Shape 7"/>
          <p:cNvSpPr/>
          <p:nvPr/>
        </p:nvSpPr>
        <p:spPr>
          <a:xfrm>
            <a:off x="1920240" y="1737360"/>
            <a:ext cx="2542032" cy="3611880"/>
          </a:xfrm>
          <a:prstGeom prst="roundRect">
            <a:avLst>
              <a:gd name="adj" fmla="val 3597"/>
            </a:avLst>
          </a:prstGeom>
          <a:solidFill>
            <a:srgbClr val="22C55E">
              <a:alpha val="10000"/>
            </a:srgbClr>
          </a:solidFill>
          <a:ln w="12700">
            <a:solidFill>
              <a:srgbClr val="22C55E">
                <a:alpha val="55000"/>
              </a:srgbClr>
            </a:solidFill>
            <a:prstDash val="solid"/>
          </a:ln>
        </p:spPr>
      </p:sp>
      <p:sp>
        <p:nvSpPr>
          <p:cNvPr id="11" name="Text 8"/>
          <p:cNvSpPr txBox="1"/>
          <p:nvPr/>
        </p:nvSpPr>
        <p:spPr>
          <a:xfrm>
            <a:off x="2103120" y="1892808"/>
            <a:ext cx="2176272" cy="274320"/>
          </a:xfrm>
          <a:prstGeom prst="rect">
            <a:avLst/>
          </a:prstGeom>
          <a:noFill/>
          <a:ln/>
        </p:spPr>
        <p:txBody>
          <a:bodyPr wrap="square" lIns="0" tIns="0" rIns="0" bIns="0" rtlCol="0" anchor="t"/>
          <a:lstStyle/>
          <a:p>
            <a:pPr algn="l" indent="0" marL="0">
              <a:lnSpc>
                <a:spcPct val="100000"/>
              </a:lnSpc>
              <a:buNone/>
            </a:pPr>
            <a:r>
              <a:rPr lang="en-US" sz="1100" b="1" dirty="0">
                <a:solidFill>
                  <a:srgbClr val="22C55E"/>
                </a:solidFill>
                <a:latin typeface="Arial" pitchFamily="34" charset="0"/>
                <a:ea typeface="Arial" pitchFamily="34" charset="-122"/>
                <a:cs typeface="Arial" pitchFamily="34" charset="-120"/>
              </a:rPr>
              <a:t>PERCEPTION  ·  nhận thức</a:t>
            </a:r>
            <a:endParaRPr lang="en-US" sz="1100" dirty="0"/>
          </a:p>
        </p:txBody>
      </p:sp>
      <p:sp>
        <p:nvSpPr>
          <p:cNvPr id="12" name="Shape 9"/>
          <p:cNvSpPr/>
          <p:nvPr/>
        </p:nvSpPr>
        <p:spPr>
          <a:xfrm>
            <a:off x="2084832" y="2286000"/>
            <a:ext cx="2212848" cy="1353312"/>
          </a:xfrm>
          <a:prstGeom prst="roundRect">
            <a:avLst>
              <a:gd name="adj" fmla="val 6757"/>
            </a:avLst>
          </a:prstGeom>
          <a:solidFill>
            <a:srgbClr val="12233D"/>
          </a:solidFill>
          <a:ln w="9525">
            <a:solidFill>
              <a:srgbClr val="22395E"/>
            </a:solidFill>
            <a:prstDash val="solid"/>
          </a:ln>
        </p:spPr>
      </p:sp>
      <p:sp>
        <p:nvSpPr>
          <p:cNvPr id="13" name="Text 10"/>
          <p:cNvSpPr txBox="1"/>
          <p:nvPr/>
        </p:nvSpPr>
        <p:spPr>
          <a:xfrm>
            <a:off x="2240280" y="2432304"/>
            <a:ext cx="1901952" cy="365760"/>
          </a:xfrm>
          <a:prstGeom prst="rect">
            <a:avLst/>
          </a:prstGeom>
          <a:noFill/>
          <a:ln/>
        </p:spPr>
        <p:txBody>
          <a:bodyPr wrap="square" lIns="0" tIns="0" rIns="0" bIns="0" rtlCol="0" anchor="t"/>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Phát hiện rác</a:t>
            </a:r>
            <a:endParaRPr lang="en-US" sz="1450" dirty="0"/>
          </a:p>
        </p:txBody>
      </p:sp>
      <p:sp>
        <p:nvSpPr>
          <p:cNvPr id="14" name="Text 11"/>
          <p:cNvSpPr txBox="1"/>
          <p:nvPr/>
        </p:nvSpPr>
        <p:spPr>
          <a:xfrm>
            <a:off x="2240280" y="2816352"/>
            <a:ext cx="1901952" cy="73152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YOLO-World từ vựng mở, zero-shot, 12 nhãn, ảnh 1280 px</a:t>
            </a:r>
            <a:endParaRPr lang="en-US" sz="1250" dirty="0"/>
          </a:p>
        </p:txBody>
      </p:sp>
      <p:sp>
        <p:nvSpPr>
          <p:cNvPr id="15" name="Shape 12"/>
          <p:cNvSpPr/>
          <p:nvPr/>
        </p:nvSpPr>
        <p:spPr>
          <a:xfrm>
            <a:off x="2084832" y="3803904"/>
            <a:ext cx="2212848" cy="1353312"/>
          </a:xfrm>
          <a:prstGeom prst="roundRect">
            <a:avLst>
              <a:gd name="adj" fmla="val 6757"/>
            </a:avLst>
          </a:prstGeom>
          <a:solidFill>
            <a:srgbClr val="12233D"/>
          </a:solidFill>
          <a:ln w="9525">
            <a:solidFill>
              <a:srgbClr val="22395E"/>
            </a:solidFill>
            <a:prstDash val="solid"/>
          </a:ln>
        </p:spPr>
      </p:sp>
      <p:sp>
        <p:nvSpPr>
          <p:cNvPr id="16" name="Text 13"/>
          <p:cNvSpPr txBox="1"/>
          <p:nvPr/>
        </p:nvSpPr>
        <p:spPr>
          <a:xfrm>
            <a:off x="2240280" y="3950208"/>
            <a:ext cx="1901952" cy="365760"/>
          </a:xfrm>
          <a:prstGeom prst="rect">
            <a:avLst/>
          </a:prstGeom>
          <a:noFill/>
          <a:ln/>
        </p:spPr>
        <p:txBody>
          <a:bodyPr wrap="square" lIns="0" tIns="0" rIns="0" bIns="0" rtlCol="0" anchor="t"/>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Theo vết</a:t>
            </a:r>
            <a:endParaRPr lang="en-US" sz="1450" dirty="0"/>
          </a:p>
        </p:txBody>
      </p:sp>
      <p:sp>
        <p:nvSpPr>
          <p:cNvPr id="17" name="Text 14"/>
          <p:cNvSpPr txBox="1"/>
          <p:nvPr/>
        </p:nvSpPr>
        <p:spPr>
          <a:xfrm>
            <a:off x="2240280" y="4334256"/>
            <a:ext cx="1901952" cy="73152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SORT cải tiến: dự đoán vận tốc + ghép khoảng cách tâm</a:t>
            </a:r>
            <a:endParaRPr lang="en-US" sz="1250" dirty="0"/>
          </a:p>
        </p:txBody>
      </p:sp>
      <p:sp>
        <p:nvSpPr>
          <p:cNvPr id="18" name="Shape 15"/>
          <p:cNvSpPr/>
          <p:nvPr/>
        </p:nvSpPr>
        <p:spPr>
          <a:xfrm>
            <a:off x="4489704" y="3543300"/>
            <a:ext cx="219456" cy="0"/>
          </a:xfrm>
          <a:prstGeom prst="line">
            <a:avLst/>
          </a:prstGeom>
          <a:noFill/>
          <a:ln w="22225">
            <a:solidFill>
              <a:srgbClr val="93A6C6"/>
            </a:solidFill>
            <a:prstDash val="solid"/>
            <a:tailEnd type="triangle"/>
          </a:ln>
        </p:spPr>
      </p:sp>
      <p:sp>
        <p:nvSpPr>
          <p:cNvPr id="19" name="Shape 16"/>
          <p:cNvSpPr/>
          <p:nvPr/>
        </p:nvSpPr>
        <p:spPr>
          <a:xfrm>
            <a:off x="4736592" y="1737360"/>
            <a:ext cx="2542032" cy="3611880"/>
          </a:xfrm>
          <a:prstGeom prst="roundRect">
            <a:avLst>
              <a:gd name="adj" fmla="val 3597"/>
            </a:avLst>
          </a:prstGeom>
          <a:solidFill>
            <a:srgbClr val="F59E0B">
              <a:alpha val="10000"/>
            </a:srgbClr>
          </a:solidFill>
          <a:ln w="12700">
            <a:solidFill>
              <a:srgbClr val="F59E0B">
                <a:alpha val="55000"/>
              </a:srgbClr>
            </a:solidFill>
            <a:prstDash val="solid"/>
          </a:ln>
        </p:spPr>
      </p:sp>
      <p:sp>
        <p:nvSpPr>
          <p:cNvPr id="20" name="Text 17"/>
          <p:cNvSpPr txBox="1"/>
          <p:nvPr/>
        </p:nvSpPr>
        <p:spPr>
          <a:xfrm>
            <a:off x="4919472" y="1892808"/>
            <a:ext cx="2176272" cy="274320"/>
          </a:xfrm>
          <a:prstGeom prst="rect">
            <a:avLst/>
          </a:prstGeom>
          <a:noFill/>
          <a:ln/>
        </p:spPr>
        <p:txBody>
          <a:bodyPr wrap="square" lIns="0" tIns="0" rIns="0" bIns="0" rtlCol="0" anchor="t"/>
          <a:lstStyle/>
          <a:p>
            <a:pPr algn="l" indent="0" marL="0">
              <a:lnSpc>
                <a:spcPct val="100000"/>
              </a:lnSpc>
              <a:buNone/>
            </a:pPr>
            <a:r>
              <a:rPr lang="en-US" sz="1100" b="1" dirty="0">
                <a:solidFill>
                  <a:srgbClr val="F59E0B"/>
                </a:solidFill>
                <a:latin typeface="Arial" pitchFamily="34" charset="0"/>
                <a:ea typeface="Arial" pitchFamily="34" charset="-122"/>
                <a:cs typeface="Arial" pitchFamily="34" charset="-120"/>
              </a:rPr>
              <a:t>REASONING  ·  suy luận</a:t>
            </a:r>
            <a:endParaRPr lang="en-US" sz="1100" dirty="0"/>
          </a:p>
        </p:txBody>
      </p:sp>
      <p:sp>
        <p:nvSpPr>
          <p:cNvPr id="21" name="Shape 18"/>
          <p:cNvSpPr/>
          <p:nvPr/>
        </p:nvSpPr>
        <p:spPr>
          <a:xfrm>
            <a:off x="4901184" y="2286000"/>
            <a:ext cx="2212848" cy="1353312"/>
          </a:xfrm>
          <a:prstGeom prst="roundRect">
            <a:avLst>
              <a:gd name="adj" fmla="val 6757"/>
            </a:avLst>
          </a:prstGeom>
          <a:solidFill>
            <a:srgbClr val="12233D"/>
          </a:solidFill>
          <a:ln w="9525">
            <a:solidFill>
              <a:srgbClr val="22395E"/>
            </a:solidFill>
            <a:prstDash val="solid"/>
          </a:ln>
        </p:spPr>
      </p:sp>
      <p:sp>
        <p:nvSpPr>
          <p:cNvPr id="22" name="Text 19"/>
          <p:cNvSpPr txBox="1"/>
          <p:nvPr/>
        </p:nvSpPr>
        <p:spPr>
          <a:xfrm>
            <a:off x="5056632" y="2432304"/>
            <a:ext cx="1901952" cy="365760"/>
          </a:xfrm>
          <a:prstGeom prst="rect">
            <a:avLst/>
          </a:prstGeom>
          <a:noFill/>
          <a:ln/>
        </p:spPr>
        <p:txBody>
          <a:bodyPr wrap="square" lIns="0" tIns="0" rIns="0" bIns="0" rtlCol="0" anchor="t"/>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Chuyển động</a:t>
            </a:r>
            <a:endParaRPr lang="en-US" sz="1450" dirty="0"/>
          </a:p>
        </p:txBody>
      </p:sp>
      <p:sp>
        <p:nvSpPr>
          <p:cNvPr id="23" name="Text 20"/>
          <p:cNvSpPr txBox="1"/>
          <p:nvPr/>
        </p:nvSpPr>
        <p:spPr>
          <a:xfrm>
            <a:off x="5056632" y="2816352"/>
            <a:ext cx="1901952" cy="73152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Hướng &amp; tốc độ trôi; bù chuyển động camera</a:t>
            </a:r>
            <a:endParaRPr lang="en-US" sz="1250" dirty="0"/>
          </a:p>
        </p:txBody>
      </p:sp>
      <p:sp>
        <p:nvSpPr>
          <p:cNvPr id="24" name="Shape 21"/>
          <p:cNvSpPr/>
          <p:nvPr/>
        </p:nvSpPr>
        <p:spPr>
          <a:xfrm>
            <a:off x="4901184" y="3803904"/>
            <a:ext cx="2212848" cy="1353312"/>
          </a:xfrm>
          <a:prstGeom prst="roundRect">
            <a:avLst>
              <a:gd name="adj" fmla="val 6757"/>
            </a:avLst>
          </a:prstGeom>
          <a:solidFill>
            <a:srgbClr val="12233D"/>
          </a:solidFill>
          <a:ln w="9525">
            <a:solidFill>
              <a:srgbClr val="22395E"/>
            </a:solidFill>
            <a:prstDash val="solid"/>
          </a:ln>
        </p:spPr>
      </p:sp>
      <p:sp>
        <p:nvSpPr>
          <p:cNvPr id="25" name="Text 22"/>
          <p:cNvSpPr txBox="1"/>
          <p:nvPr/>
        </p:nvSpPr>
        <p:spPr>
          <a:xfrm>
            <a:off x="5056632" y="3950208"/>
            <a:ext cx="1901952" cy="365760"/>
          </a:xfrm>
          <a:prstGeom prst="rect">
            <a:avLst/>
          </a:prstGeom>
          <a:noFill/>
          <a:ln/>
        </p:spPr>
        <p:txBody>
          <a:bodyPr wrap="square" lIns="0" tIns="0" rIns="0" bIns="0" rtlCol="0" anchor="t"/>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Dự báo điểm nóng</a:t>
            </a:r>
            <a:endParaRPr lang="en-US" sz="1450" dirty="0"/>
          </a:p>
        </p:txBody>
      </p:sp>
      <p:sp>
        <p:nvSpPr>
          <p:cNvPr id="26" name="Text 23"/>
          <p:cNvSpPr txBox="1"/>
          <p:nvPr/>
        </p:nvSpPr>
        <p:spPr>
          <a:xfrm>
            <a:off x="5056632" y="4334256"/>
            <a:ext cx="1901952" cy="73152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Lưới 32×32, ngoại suy 10 s; cảnh báo trước 20 phút</a:t>
            </a:r>
            <a:endParaRPr lang="en-US" sz="1250" dirty="0"/>
          </a:p>
        </p:txBody>
      </p:sp>
      <p:sp>
        <p:nvSpPr>
          <p:cNvPr id="27" name="Shape 24"/>
          <p:cNvSpPr/>
          <p:nvPr/>
        </p:nvSpPr>
        <p:spPr>
          <a:xfrm>
            <a:off x="7306056" y="3543300"/>
            <a:ext cx="219456" cy="0"/>
          </a:xfrm>
          <a:prstGeom prst="line">
            <a:avLst/>
          </a:prstGeom>
          <a:noFill/>
          <a:ln w="22225">
            <a:solidFill>
              <a:srgbClr val="93A6C6"/>
            </a:solidFill>
            <a:prstDash val="solid"/>
            <a:tailEnd type="triangle"/>
          </a:ln>
        </p:spPr>
      </p:sp>
      <p:sp>
        <p:nvSpPr>
          <p:cNvPr id="28" name="Shape 25"/>
          <p:cNvSpPr/>
          <p:nvPr/>
        </p:nvSpPr>
        <p:spPr>
          <a:xfrm>
            <a:off x="7552944" y="1737360"/>
            <a:ext cx="2542032" cy="3611880"/>
          </a:xfrm>
          <a:prstGeom prst="roundRect">
            <a:avLst>
              <a:gd name="adj" fmla="val 3597"/>
            </a:avLst>
          </a:prstGeom>
          <a:solidFill>
            <a:srgbClr val="EF4444">
              <a:alpha val="10000"/>
            </a:srgbClr>
          </a:solidFill>
          <a:ln w="12700">
            <a:solidFill>
              <a:srgbClr val="EF4444">
                <a:alpha val="55000"/>
              </a:srgbClr>
            </a:solidFill>
            <a:prstDash val="solid"/>
          </a:ln>
        </p:spPr>
      </p:sp>
      <p:sp>
        <p:nvSpPr>
          <p:cNvPr id="29" name="Text 26"/>
          <p:cNvSpPr txBox="1"/>
          <p:nvPr/>
        </p:nvSpPr>
        <p:spPr>
          <a:xfrm>
            <a:off x="7735824" y="1892808"/>
            <a:ext cx="2176272" cy="274320"/>
          </a:xfrm>
          <a:prstGeom prst="rect">
            <a:avLst/>
          </a:prstGeom>
          <a:noFill/>
          <a:ln/>
        </p:spPr>
        <p:txBody>
          <a:bodyPr wrap="square" lIns="0" tIns="0" rIns="0" bIns="0" rtlCol="0" anchor="t"/>
          <a:lstStyle/>
          <a:p>
            <a:pPr algn="l" indent="0" marL="0">
              <a:lnSpc>
                <a:spcPct val="100000"/>
              </a:lnSpc>
              <a:buNone/>
            </a:pPr>
            <a:r>
              <a:rPr lang="en-US" sz="1100" b="1" dirty="0">
                <a:solidFill>
                  <a:srgbClr val="EF4444"/>
                </a:solidFill>
                <a:latin typeface="Arial" pitchFamily="34" charset="0"/>
                <a:ea typeface="Arial" pitchFamily="34" charset="-122"/>
                <a:cs typeface="Arial" pitchFamily="34" charset="-120"/>
              </a:rPr>
              <a:t>DECISION  ·  quyết định</a:t>
            </a:r>
            <a:endParaRPr lang="en-US" sz="1100" dirty="0"/>
          </a:p>
        </p:txBody>
      </p:sp>
      <p:sp>
        <p:nvSpPr>
          <p:cNvPr id="30" name="Shape 27"/>
          <p:cNvSpPr/>
          <p:nvPr/>
        </p:nvSpPr>
        <p:spPr>
          <a:xfrm>
            <a:off x="7717536" y="2286000"/>
            <a:ext cx="2212848" cy="1353312"/>
          </a:xfrm>
          <a:prstGeom prst="roundRect">
            <a:avLst>
              <a:gd name="adj" fmla="val 6757"/>
            </a:avLst>
          </a:prstGeom>
          <a:solidFill>
            <a:srgbClr val="12233D"/>
          </a:solidFill>
          <a:ln w="9525">
            <a:solidFill>
              <a:srgbClr val="22395E"/>
            </a:solidFill>
            <a:prstDash val="solid"/>
          </a:ln>
        </p:spPr>
      </p:sp>
      <p:sp>
        <p:nvSpPr>
          <p:cNvPr id="31" name="Text 28"/>
          <p:cNvSpPr txBox="1"/>
          <p:nvPr/>
        </p:nvSpPr>
        <p:spPr>
          <a:xfrm>
            <a:off x="7872984" y="2432304"/>
            <a:ext cx="1901952" cy="365760"/>
          </a:xfrm>
          <a:prstGeom prst="rect">
            <a:avLst/>
          </a:prstGeom>
          <a:noFill/>
          <a:ln/>
        </p:spPr>
        <p:txBody>
          <a:bodyPr wrap="square" lIns="0" tIns="0" rIns="0" bIns="0" rtlCol="0" anchor="t"/>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Rủi ro theo vùng</a:t>
            </a:r>
            <a:endParaRPr lang="en-US" sz="1450" dirty="0"/>
          </a:p>
        </p:txBody>
      </p:sp>
      <p:sp>
        <p:nvSpPr>
          <p:cNvPr id="32" name="Text 29"/>
          <p:cNvSpPr txBox="1"/>
          <p:nvPr/>
        </p:nvSpPr>
        <p:spPr>
          <a:xfrm>
            <a:off x="7872984" y="2816352"/>
            <a:ext cx="1901952" cy="73152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Lưới 3×3: mật độ · hội tụ · độ tin cậy</a:t>
            </a:r>
            <a:endParaRPr lang="en-US" sz="1250" dirty="0"/>
          </a:p>
        </p:txBody>
      </p:sp>
      <p:sp>
        <p:nvSpPr>
          <p:cNvPr id="33" name="Shape 30"/>
          <p:cNvSpPr/>
          <p:nvPr/>
        </p:nvSpPr>
        <p:spPr>
          <a:xfrm>
            <a:off x="7717536" y="3803904"/>
            <a:ext cx="2212848" cy="1353312"/>
          </a:xfrm>
          <a:prstGeom prst="roundRect">
            <a:avLst>
              <a:gd name="adj" fmla="val 6757"/>
            </a:avLst>
          </a:prstGeom>
          <a:solidFill>
            <a:srgbClr val="12233D"/>
          </a:solidFill>
          <a:ln w="9525">
            <a:solidFill>
              <a:srgbClr val="22395E"/>
            </a:solidFill>
            <a:prstDash val="solid"/>
          </a:ln>
        </p:spPr>
      </p:sp>
      <p:sp>
        <p:nvSpPr>
          <p:cNvPr id="34" name="Text 31"/>
          <p:cNvSpPr txBox="1"/>
          <p:nvPr/>
        </p:nvSpPr>
        <p:spPr>
          <a:xfrm>
            <a:off x="7872984" y="3950208"/>
            <a:ext cx="1901952" cy="365760"/>
          </a:xfrm>
          <a:prstGeom prst="rect">
            <a:avLst/>
          </a:prstGeom>
          <a:noFill/>
          <a:ln/>
        </p:spPr>
        <p:txBody>
          <a:bodyPr wrap="square" lIns="0" tIns="0" rIns="0" bIns="0" rtlCol="0" anchor="t"/>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Hàng đợi ưu tiên</a:t>
            </a:r>
            <a:endParaRPr lang="en-US" sz="1450" dirty="0"/>
          </a:p>
        </p:txBody>
      </p:sp>
      <p:sp>
        <p:nvSpPr>
          <p:cNvPr id="35" name="Text 32"/>
          <p:cNvSpPr txBox="1"/>
          <p:nvPr/>
        </p:nvSpPr>
        <p:spPr>
          <a:xfrm>
            <a:off x="7872984" y="4334256"/>
            <a:ext cx="1901952" cy="73152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Xếp hạng toàn mạng, ETA, mục “Vì sao?”</a:t>
            </a:r>
            <a:endParaRPr lang="en-US" sz="1250" dirty="0"/>
          </a:p>
        </p:txBody>
      </p:sp>
      <p:sp>
        <p:nvSpPr>
          <p:cNvPr id="36" name="Shape 33"/>
          <p:cNvSpPr/>
          <p:nvPr/>
        </p:nvSpPr>
        <p:spPr>
          <a:xfrm>
            <a:off x="10122408" y="3543300"/>
            <a:ext cx="219456" cy="0"/>
          </a:xfrm>
          <a:prstGeom prst="line">
            <a:avLst/>
          </a:prstGeom>
          <a:noFill/>
          <a:ln w="22225">
            <a:solidFill>
              <a:srgbClr val="93A6C6"/>
            </a:solidFill>
            <a:prstDash val="solid"/>
            <a:tailEnd type="triangle"/>
          </a:ln>
        </p:spPr>
      </p:sp>
      <p:sp>
        <p:nvSpPr>
          <p:cNvPr id="37" name="Shape 34"/>
          <p:cNvSpPr/>
          <p:nvPr/>
        </p:nvSpPr>
        <p:spPr>
          <a:xfrm>
            <a:off x="10369296" y="2423160"/>
            <a:ext cx="1410919" cy="2240280"/>
          </a:xfrm>
          <a:prstGeom prst="roundRect">
            <a:avLst>
              <a:gd name="adj" fmla="val 6481"/>
            </a:avLst>
          </a:prstGeom>
          <a:solidFill>
            <a:srgbClr val="172B4A"/>
          </a:solidFill>
          <a:ln w="9525">
            <a:solidFill>
              <a:srgbClr val="22395E"/>
            </a:solidFill>
            <a:prstDash val="solid"/>
          </a:ln>
        </p:spPr>
      </p:sp>
      <p:sp>
        <p:nvSpPr>
          <p:cNvPr id="38" name="Shape 35"/>
          <p:cNvSpPr/>
          <p:nvPr/>
        </p:nvSpPr>
        <p:spPr>
          <a:xfrm>
            <a:off x="10773004" y="2606040"/>
            <a:ext cx="603504" cy="603504"/>
          </a:xfrm>
          <a:prstGeom prst="ellipse">
            <a:avLst/>
          </a:prstGeom>
          <a:solidFill>
            <a:srgbClr val="2DD4BF">
              <a:alpha val="18000"/>
            </a:srgbClr>
          </a:solidFill>
          <a:ln w="12700">
            <a:solidFill>
              <a:srgbClr val="2DD4BF">
                <a:alpha val="60000"/>
              </a:srgbClr>
            </a:solidFill>
            <a:prstDash val="solid"/>
          </a:ln>
        </p:spPr>
      </p:sp>
      <p:pic>
        <p:nvPicPr>
          <p:cNvPr id="39" name="Image 1" descr="preencoded.png">    </p:cNvPr>
          <p:cNvPicPr>
            <a:picLocks noChangeAspect="1"/>
          </p:cNvPicPr>
          <p:nvPr/>
        </p:nvPicPr>
        <p:blipFill>
          <a:blip r:embed="rId2"/>
          <a:stretch>
            <a:fillRect/>
          </a:stretch>
        </p:blipFill>
        <p:spPr>
          <a:xfrm>
            <a:off x="10929915" y="2762951"/>
            <a:ext cx="289682" cy="289682"/>
          </a:xfrm>
          <a:prstGeom prst="rect">
            <a:avLst/>
          </a:prstGeom>
        </p:spPr>
      </p:pic>
      <p:sp>
        <p:nvSpPr>
          <p:cNvPr id="40" name="Text 36"/>
          <p:cNvSpPr txBox="1"/>
          <p:nvPr/>
        </p:nvSpPr>
        <p:spPr>
          <a:xfrm>
            <a:off x="10460736" y="3310128"/>
            <a:ext cx="1319479" cy="320040"/>
          </a:xfrm>
          <a:prstGeom prst="rect">
            <a:avLst/>
          </a:prstGeom>
          <a:noFill/>
          <a:ln/>
        </p:spPr>
        <p:txBody>
          <a:bodyPr wrap="square" lIns="0" tIns="0" rIns="0" bIns="0" rtlCol="0" anchor="t"/>
          <a:lstStyle/>
          <a:p>
            <a:pPr algn="ctr" indent="0" marL="0">
              <a:lnSpc>
                <a:spcPct val="100000"/>
              </a:lnSpc>
              <a:buNone/>
            </a:pPr>
            <a:r>
              <a:rPr lang="en-US" sz="1400" b="1" dirty="0">
                <a:solidFill>
                  <a:srgbClr val="E8EEF8"/>
                </a:solidFill>
                <a:latin typeface="Calibri" pitchFamily="34" charset="0"/>
                <a:ea typeface="Calibri" pitchFamily="34" charset="-122"/>
                <a:cs typeface="Calibri" pitchFamily="34" charset="-120"/>
              </a:rPr>
              <a:t>Dashboard</a:t>
            </a:r>
            <a:endParaRPr lang="en-US" sz="1400" dirty="0"/>
          </a:p>
        </p:txBody>
      </p:sp>
      <p:sp>
        <p:nvSpPr>
          <p:cNvPr id="41" name="Text 37"/>
          <p:cNvSpPr txBox="1"/>
          <p:nvPr/>
        </p:nvSpPr>
        <p:spPr>
          <a:xfrm>
            <a:off x="10460736" y="3639312"/>
            <a:ext cx="1319479" cy="868680"/>
          </a:xfrm>
          <a:prstGeom prst="rect">
            <a:avLst/>
          </a:prstGeom>
          <a:noFill/>
          <a:ln/>
        </p:spPr>
        <p:txBody>
          <a:bodyPr wrap="square" lIns="0" tIns="0" rIns="0" bIns="0" rtlCol="0" anchor="t"/>
          <a:lstStyle/>
          <a:p>
            <a:pPr algn="ctr" indent="0" marL="0">
              <a:lnSpc>
                <a:spcPct val="100000"/>
              </a:lnSpc>
              <a:buNone/>
            </a:pPr>
            <a:r>
              <a:rPr lang="en-US" sz="1150" dirty="0">
                <a:solidFill>
                  <a:srgbClr val="93A6C6"/>
                </a:solidFill>
                <a:latin typeface="Calibri" pitchFamily="34" charset="0"/>
                <a:ea typeface="Calibri" pitchFamily="34" charset="-122"/>
                <a:cs typeface="Calibri" pitchFamily="34" charset="-120"/>
              </a:rPr>
              <a:t>Cảnh báo</a:t>
            </a:r>
            <a:endParaRPr lang="en-US" sz="1150" dirty="0"/>
          </a:p>
          <a:p>
            <a:pPr algn="ctr" indent="0" marL="0">
              <a:lnSpc>
                <a:spcPct val="100000"/>
              </a:lnSpc>
              <a:buNone/>
            </a:pPr>
            <a:r>
              <a:rPr lang="en-US" sz="1150" dirty="0">
                <a:solidFill>
                  <a:srgbClr val="93A6C6"/>
                </a:solidFill>
                <a:latin typeface="Calibri" pitchFamily="34" charset="0"/>
                <a:ea typeface="Calibri" pitchFamily="34" charset="-122"/>
                <a:cs typeface="Calibri" pitchFamily="34" charset="-120"/>
              </a:rPr>
              <a:t>Bản đồ rủi ro</a:t>
            </a:r>
            <a:endParaRPr lang="en-US" sz="1150" dirty="0"/>
          </a:p>
          <a:p>
            <a:pPr algn="ctr" indent="0" marL="0">
              <a:lnSpc>
                <a:spcPct val="100000"/>
              </a:lnSpc>
              <a:buNone/>
            </a:pPr>
            <a:r>
              <a:rPr lang="en-US" sz="1150" dirty="0">
                <a:solidFill>
                  <a:srgbClr val="93A6C6"/>
                </a:solidFill>
                <a:latin typeface="Calibri" pitchFamily="34" charset="0"/>
                <a:ea typeface="Calibri" pitchFamily="34" charset="-122"/>
                <a:cs typeface="Calibri" pitchFamily="34" charset="-120"/>
              </a:rPr>
              <a:t>Hàng đợi ưu tiên</a:t>
            </a:r>
            <a:endParaRPr lang="en-US" sz="1150" dirty="0"/>
          </a:p>
        </p:txBody>
      </p:sp>
      <p:sp>
        <p:nvSpPr>
          <p:cNvPr id="42" name="Text 38"/>
          <p:cNvSpPr txBox="1"/>
          <p:nvPr/>
        </p:nvSpPr>
        <p:spPr>
          <a:xfrm>
            <a:off x="548640" y="5669280"/>
            <a:ext cx="11094415" cy="320040"/>
          </a:xfrm>
          <a:prstGeom prst="rect">
            <a:avLst/>
          </a:prstGeom>
          <a:noFill/>
          <a:ln/>
        </p:spPr>
        <p:txBody>
          <a:bodyPr wrap="square" lIns="0" tIns="0" rIns="0" bIns="0" rtlCol="0" anchor="t"/>
          <a:lstStyle/>
          <a:p>
            <a:pPr algn="ctr" indent="0" marL="0">
              <a:lnSpc>
                <a:spcPct val="100000"/>
              </a:lnSpc>
              <a:buNone/>
            </a:pPr>
            <a:r>
              <a:rPr lang="en-US" sz="1300" dirty="0">
                <a:solidFill>
                  <a:srgbClr val="93A6C6"/>
                </a:solidFill>
                <a:latin typeface="Calibri" pitchFamily="34" charset="0"/>
                <a:ea typeface="Calibri" pitchFamily="34" charset="-122"/>
                <a:cs typeface="Calibri" pitchFamily="34" charset="-120"/>
              </a:rPr>
              <a:t>Python · Ultralytics · OpenCV · FastAPI · Leaflet   |   cấu hình YAML · 26 kiểm thử tự động · chạy offline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EF4444"/>
                </a:solidFill>
                <a:latin typeface="Arial" pitchFamily="34" charset="0"/>
                <a:ea typeface="Arial" pitchFamily="34" charset="-122"/>
                <a:cs typeface="Arial" pitchFamily="34" charset="-120"/>
              </a:rPr>
              <a:t>04 · QUYẾT ĐỊNH GIẢI THÍCH ĐƯỢC</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Mỗi cảnh báo đều trả lời được: Vì sao?</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5/12</a:t>
            </a:r>
            <a:endParaRPr lang="en-US" sz="1000" dirty="0"/>
          </a:p>
        </p:txBody>
      </p:sp>
      <p:sp>
        <p:nvSpPr>
          <p:cNvPr id="5" name="Shape 3"/>
          <p:cNvSpPr/>
          <p:nvPr/>
        </p:nvSpPr>
        <p:spPr>
          <a:xfrm>
            <a:off x="548640" y="1691640"/>
            <a:ext cx="6903720" cy="1143000"/>
          </a:xfrm>
          <a:prstGeom prst="roundRect">
            <a:avLst>
              <a:gd name="adj" fmla="val 8000"/>
            </a:avLst>
          </a:prstGeom>
          <a:solidFill>
            <a:srgbClr val="172B4A"/>
          </a:solidFill>
          <a:ln w="9525">
            <a:solidFill>
              <a:srgbClr val="22395E"/>
            </a:solidFill>
            <a:prstDash val="solid"/>
          </a:ln>
        </p:spPr>
      </p:sp>
      <p:sp>
        <p:nvSpPr>
          <p:cNvPr id="6" name="Text 4"/>
          <p:cNvSpPr txBox="1"/>
          <p:nvPr/>
        </p:nvSpPr>
        <p:spPr>
          <a:xfrm>
            <a:off x="868680" y="1828800"/>
            <a:ext cx="6400800" cy="868680"/>
          </a:xfrm>
          <a:prstGeom prst="rect">
            <a:avLst/>
          </a:prstGeom>
          <a:noFill/>
          <a:ln/>
        </p:spPr>
        <p:txBody>
          <a:bodyPr wrap="square" lIns="0" tIns="0" rIns="0" bIns="0" rtlCol="0" anchor="t"/>
          <a:lstStyle/>
          <a:p>
            <a:pPr algn="l" indent="0" marL="0">
              <a:lnSpc>
                <a:spcPct val="110000"/>
              </a:lnSpc>
              <a:buNone/>
            </a:pPr>
            <a:r>
              <a:rPr lang="en-US" sz="1900" b="1" dirty="0">
                <a:solidFill>
                  <a:srgbClr val="E8EEF8"/>
                </a:solidFill>
                <a:latin typeface="Arial" pitchFamily="34" charset="0"/>
                <a:ea typeface="Arial" pitchFamily="34" charset="-122"/>
                <a:cs typeface="Arial" pitchFamily="34" charset="-120"/>
              </a:rPr>
              <a:t>Nguy cơ vùng  =</a:t>
            </a:r>
            <a:endParaRPr lang="en-US" sz="1900" dirty="0"/>
          </a:p>
          <a:p>
            <a:pPr algn="l" indent="0" marL="0">
              <a:lnSpc>
                <a:spcPct val="110000"/>
              </a:lnSpc>
              <a:buNone/>
            </a:pPr>
            <a:r>
              <a:rPr lang="en-US" sz="1900" b="1" dirty="0">
                <a:solidFill>
                  <a:srgbClr val="2DD4BF"/>
                </a:solidFill>
                <a:latin typeface="Arial" pitchFamily="34" charset="0"/>
                <a:ea typeface="Arial" pitchFamily="34" charset="-122"/>
                <a:cs typeface="Arial" pitchFamily="34" charset="-120"/>
              </a:rPr>
              <a:t>0,4</a:t>
            </a:r>
            <a:pPr algn="l" indent="0" marL="0">
              <a:lnSpc>
                <a:spcPct val="110000"/>
              </a:lnSpc>
              <a:buNone/>
            </a:pPr>
            <a:r>
              <a:rPr lang="en-US" sz="1900" b="1" dirty="0">
                <a:solidFill>
                  <a:srgbClr val="E8EEF8"/>
                </a:solidFill>
                <a:latin typeface="Arial" pitchFamily="34" charset="0"/>
                <a:ea typeface="Arial" pitchFamily="34" charset="-122"/>
                <a:cs typeface="Arial" pitchFamily="34" charset="-120"/>
              </a:rPr>
              <a:t> × Mật độ  +  </a:t>
            </a:r>
            <a:pPr algn="l" indent="0" marL="0">
              <a:lnSpc>
                <a:spcPct val="110000"/>
              </a:lnSpc>
              <a:buNone/>
            </a:pPr>
            <a:r>
              <a:rPr lang="en-US" sz="1900" b="1" dirty="0">
                <a:solidFill>
                  <a:srgbClr val="F59E0B"/>
                </a:solidFill>
                <a:latin typeface="Arial" pitchFamily="34" charset="0"/>
                <a:ea typeface="Arial" pitchFamily="34" charset="-122"/>
                <a:cs typeface="Arial" pitchFamily="34" charset="-120"/>
              </a:rPr>
              <a:t>0,4</a:t>
            </a:r>
            <a:pPr algn="l" indent="0" marL="0">
              <a:lnSpc>
                <a:spcPct val="110000"/>
              </a:lnSpc>
              <a:buNone/>
            </a:pPr>
            <a:r>
              <a:rPr lang="en-US" sz="1900" b="1" dirty="0">
                <a:solidFill>
                  <a:srgbClr val="E8EEF8"/>
                </a:solidFill>
                <a:latin typeface="Arial" pitchFamily="34" charset="0"/>
                <a:ea typeface="Arial" pitchFamily="34" charset="-122"/>
                <a:cs typeface="Arial" pitchFamily="34" charset="-120"/>
              </a:rPr>
              <a:t> × Hội tụ  +  </a:t>
            </a:r>
            <a:pPr algn="l" indent="0" marL="0">
              <a:lnSpc>
                <a:spcPct val="110000"/>
              </a:lnSpc>
              <a:buNone/>
            </a:pPr>
            <a:r>
              <a:rPr lang="en-US" sz="1900" b="1" dirty="0">
                <a:solidFill>
                  <a:srgbClr val="A78BFA"/>
                </a:solidFill>
                <a:latin typeface="Arial" pitchFamily="34" charset="0"/>
                <a:ea typeface="Arial" pitchFamily="34" charset="-122"/>
                <a:cs typeface="Arial" pitchFamily="34" charset="-120"/>
              </a:rPr>
              <a:t>0,2</a:t>
            </a:r>
            <a:pPr algn="l" indent="0" marL="0">
              <a:lnSpc>
                <a:spcPct val="110000"/>
              </a:lnSpc>
              <a:buNone/>
            </a:pPr>
            <a:r>
              <a:rPr lang="en-US" sz="1900" b="1" dirty="0">
                <a:solidFill>
                  <a:srgbClr val="E8EEF8"/>
                </a:solidFill>
                <a:latin typeface="Arial" pitchFamily="34" charset="0"/>
                <a:ea typeface="Arial" pitchFamily="34" charset="-122"/>
                <a:cs typeface="Arial" pitchFamily="34" charset="-120"/>
              </a:rPr>
              <a:t> × Độ tin cậy</a:t>
            </a:r>
            <a:endParaRPr lang="en-US" sz="1900" dirty="0"/>
          </a:p>
        </p:txBody>
      </p:sp>
      <p:sp>
        <p:nvSpPr>
          <p:cNvPr id="7" name="Shape 5"/>
          <p:cNvSpPr/>
          <p:nvPr/>
        </p:nvSpPr>
        <p:spPr>
          <a:xfrm>
            <a:off x="548640" y="3108960"/>
            <a:ext cx="566928" cy="566928"/>
          </a:xfrm>
          <a:prstGeom prst="ellipse">
            <a:avLst/>
          </a:prstGeom>
          <a:solidFill>
            <a:srgbClr val="2DD4BF">
              <a:alpha val="18000"/>
            </a:srgbClr>
          </a:solidFill>
          <a:ln w="12700">
            <a:solidFill>
              <a:srgbClr val="2DD4BF">
                <a:alpha val="60000"/>
              </a:srgbClr>
            </a:solidFill>
            <a:prstDash val="solid"/>
          </a:ln>
        </p:spPr>
      </p:sp>
      <p:pic>
        <p:nvPicPr>
          <p:cNvPr id="8" name="Image 0" descr="preencoded.png">    </p:cNvPr>
          <p:cNvPicPr>
            <a:picLocks noChangeAspect="1"/>
          </p:cNvPicPr>
          <p:nvPr/>
        </p:nvPicPr>
        <p:blipFill>
          <a:blip r:embed="rId1"/>
          <a:stretch>
            <a:fillRect/>
          </a:stretch>
        </p:blipFill>
        <p:spPr>
          <a:xfrm>
            <a:off x="696041" y="3256361"/>
            <a:ext cx="272125" cy="272125"/>
          </a:xfrm>
          <a:prstGeom prst="rect">
            <a:avLst/>
          </a:prstGeom>
        </p:spPr>
      </p:pic>
      <p:sp>
        <p:nvSpPr>
          <p:cNvPr id="9" name="Text 6"/>
          <p:cNvSpPr txBox="1"/>
          <p:nvPr/>
        </p:nvSpPr>
        <p:spPr>
          <a:xfrm>
            <a:off x="1325880" y="3090672"/>
            <a:ext cx="6035040" cy="320040"/>
          </a:xfrm>
          <a:prstGeom prst="rect">
            <a:avLst/>
          </a:prstGeom>
          <a:noFill/>
          <a:ln/>
        </p:spPr>
        <p:txBody>
          <a:bodyPr wrap="square" lIns="0" tIns="0" rIns="0" bIns="0" rtlCol="0" anchor="t"/>
          <a:lstStyle/>
          <a:p>
            <a:pPr algn="l" indent="0" marL="0">
              <a:lnSpc>
                <a:spcPct val="100000"/>
              </a:lnSpc>
              <a:buNone/>
            </a:pPr>
            <a:r>
              <a:rPr lang="en-US" sz="1600" b="1" dirty="0">
                <a:solidFill>
                  <a:srgbClr val="2DD4BF"/>
                </a:solidFill>
                <a:latin typeface="Arial" pitchFamily="34" charset="0"/>
                <a:ea typeface="Arial" pitchFamily="34" charset="-122"/>
                <a:cs typeface="Arial" pitchFamily="34" charset="-120"/>
              </a:rPr>
              <a:t>Mật độ</a:t>
            </a:r>
            <a:endParaRPr lang="en-US" sz="1600" dirty="0"/>
          </a:p>
        </p:txBody>
      </p:sp>
      <p:sp>
        <p:nvSpPr>
          <p:cNvPr id="10" name="Text 7"/>
          <p:cNvSpPr txBox="1"/>
          <p:nvPr/>
        </p:nvSpPr>
        <p:spPr>
          <a:xfrm>
            <a:off x="1325880" y="3410712"/>
            <a:ext cx="6126480" cy="457200"/>
          </a:xfrm>
          <a:prstGeom prst="rect">
            <a:avLst/>
          </a:prstGeom>
          <a:noFill/>
          <a:ln/>
        </p:spPr>
        <p:txBody>
          <a:bodyPr wrap="square" lIns="0" tIns="0" rIns="0" bIns="0" rtlCol="0" anchor="t"/>
          <a:lstStyle/>
          <a:p>
            <a:pPr algn="l" indent="0" marL="0">
              <a:lnSpc>
                <a:spcPct val="100000"/>
              </a:lnSpc>
              <a:buNone/>
            </a:pPr>
            <a:r>
              <a:rPr lang="en-US" sz="1400" dirty="0">
                <a:solidFill>
                  <a:srgbClr val="93A6C6"/>
                </a:solidFill>
                <a:latin typeface="Calibri" pitchFamily="34" charset="0"/>
                <a:ea typeface="Calibri" pitchFamily="34" charset="-122"/>
                <a:cs typeface="Calibri" pitchFamily="34" charset="-120"/>
              </a:rPr>
              <a:t>Lượng rác hiện diện trong vùng, ưu tiên các khung hình gần đây.</a:t>
            </a:r>
            <a:endParaRPr lang="en-US" sz="1400" dirty="0"/>
          </a:p>
        </p:txBody>
      </p:sp>
      <p:sp>
        <p:nvSpPr>
          <p:cNvPr id="11" name="Shape 8"/>
          <p:cNvSpPr/>
          <p:nvPr/>
        </p:nvSpPr>
        <p:spPr>
          <a:xfrm>
            <a:off x="548640" y="3977640"/>
            <a:ext cx="566928" cy="566928"/>
          </a:xfrm>
          <a:prstGeom prst="ellipse">
            <a:avLst/>
          </a:prstGeom>
          <a:solidFill>
            <a:srgbClr val="F59E0B">
              <a:alpha val="18000"/>
            </a:srgbClr>
          </a:solidFill>
          <a:ln w="12700">
            <a:solidFill>
              <a:srgbClr val="F59E0B">
                <a:alpha val="60000"/>
              </a:srgbClr>
            </a:solidFill>
            <a:prstDash val="solid"/>
          </a:ln>
        </p:spPr>
      </p:sp>
      <p:pic>
        <p:nvPicPr>
          <p:cNvPr id="12" name="Image 1" descr="preencoded.png">    </p:cNvPr>
          <p:cNvPicPr>
            <a:picLocks noChangeAspect="1"/>
          </p:cNvPicPr>
          <p:nvPr/>
        </p:nvPicPr>
        <p:blipFill>
          <a:blip r:embed="rId2"/>
          <a:stretch>
            <a:fillRect/>
          </a:stretch>
        </p:blipFill>
        <p:spPr>
          <a:xfrm>
            <a:off x="696041" y="4125041"/>
            <a:ext cx="272125" cy="272125"/>
          </a:xfrm>
          <a:prstGeom prst="rect">
            <a:avLst/>
          </a:prstGeom>
        </p:spPr>
      </p:pic>
      <p:sp>
        <p:nvSpPr>
          <p:cNvPr id="13" name="Text 9"/>
          <p:cNvSpPr txBox="1"/>
          <p:nvPr/>
        </p:nvSpPr>
        <p:spPr>
          <a:xfrm>
            <a:off x="1325880" y="3959352"/>
            <a:ext cx="6035040" cy="320040"/>
          </a:xfrm>
          <a:prstGeom prst="rect">
            <a:avLst/>
          </a:prstGeom>
          <a:noFill/>
          <a:ln/>
        </p:spPr>
        <p:txBody>
          <a:bodyPr wrap="square" lIns="0" tIns="0" rIns="0" bIns="0" rtlCol="0" anchor="t"/>
          <a:lstStyle/>
          <a:p>
            <a:pPr algn="l" indent="0" marL="0">
              <a:lnSpc>
                <a:spcPct val="100000"/>
              </a:lnSpc>
              <a:buNone/>
            </a:pPr>
            <a:r>
              <a:rPr lang="en-US" sz="1600" b="1" dirty="0">
                <a:solidFill>
                  <a:srgbClr val="F59E0B"/>
                </a:solidFill>
                <a:latin typeface="Arial" pitchFamily="34" charset="0"/>
                <a:ea typeface="Arial" pitchFamily="34" charset="-122"/>
                <a:cs typeface="Arial" pitchFamily="34" charset="-120"/>
              </a:rPr>
              <a:t>Hội tụ</a:t>
            </a:r>
            <a:endParaRPr lang="en-US" sz="1600" dirty="0"/>
          </a:p>
        </p:txBody>
      </p:sp>
      <p:sp>
        <p:nvSpPr>
          <p:cNvPr id="14" name="Text 10"/>
          <p:cNvSpPr txBox="1"/>
          <p:nvPr/>
        </p:nvSpPr>
        <p:spPr>
          <a:xfrm>
            <a:off x="1325880" y="4279392"/>
            <a:ext cx="6126480" cy="457200"/>
          </a:xfrm>
          <a:prstGeom prst="rect">
            <a:avLst/>
          </a:prstGeom>
          <a:noFill/>
          <a:ln/>
        </p:spPr>
        <p:txBody>
          <a:bodyPr wrap="square" lIns="0" tIns="0" rIns="0" bIns="0" rtlCol="0" anchor="t"/>
          <a:lstStyle/>
          <a:p>
            <a:pPr algn="l" indent="0" marL="0">
              <a:lnSpc>
                <a:spcPct val="100000"/>
              </a:lnSpc>
              <a:buNone/>
            </a:pPr>
            <a:r>
              <a:rPr lang="en-US" sz="1400" dirty="0">
                <a:solidFill>
                  <a:srgbClr val="93A6C6"/>
                </a:solidFill>
                <a:latin typeface="Calibri" pitchFamily="34" charset="0"/>
                <a:ea typeface="Calibri" pitchFamily="34" charset="-122"/>
                <a:cs typeface="Calibri" pitchFamily="34" charset="-120"/>
              </a:rPr>
              <a:t>Tỉ lệ vật thể đang trôi vào vùng so với trôi ra.</a:t>
            </a:r>
            <a:endParaRPr lang="en-US" sz="1400" dirty="0"/>
          </a:p>
        </p:txBody>
      </p:sp>
      <p:sp>
        <p:nvSpPr>
          <p:cNvPr id="15" name="Shape 11"/>
          <p:cNvSpPr/>
          <p:nvPr/>
        </p:nvSpPr>
        <p:spPr>
          <a:xfrm>
            <a:off x="548640" y="4846320"/>
            <a:ext cx="566928" cy="566928"/>
          </a:xfrm>
          <a:prstGeom prst="ellipse">
            <a:avLst/>
          </a:prstGeom>
          <a:solidFill>
            <a:srgbClr val="A78BFA">
              <a:alpha val="18000"/>
            </a:srgbClr>
          </a:solidFill>
          <a:ln w="12700">
            <a:solidFill>
              <a:srgbClr val="A78BFA">
                <a:alpha val="60000"/>
              </a:srgbClr>
            </a:solidFill>
            <a:prstDash val="solid"/>
          </a:ln>
        </p:spPr>
      </p:sp>
      <p:pic>
        <p:nvPicPr>
          <p:cNvPr id="16" name="Image 2" descr="preencoded.png">    </p:cNvPr>
          <p:cNvPicPr>
            <a:picLocks noChangeAspect="1"/>
          </p:cNvPicPr>
          <p:nvPr/>
        </p:nvPicPr>
        <p:blipFill>
          <a:blip r:embed="rId3"/>
          <a:stretch>
            <a:fillRect/>
          </a:stretch>
        </p:blipFill>
        <p:spPr>
          <a:xfrm>
            <a:off x="696041" y="4993721"/>
            <a:ext cx="272125" cy="272125"/>
          </a:xfrm>
          <a:prstGeom prst="rect">
            <a:avLst/>
          </a:prstGeom>
        </p:spPr>
      </p:pic>
      <p:sp>
        <p:nvSpPr>
          <p:cNvPr id="17" name="Text 12"/>
          <p:cNvSpPr txBox="1"/>
          <p:nvPr/>
        </p:nvSpPr>
        <p:spPr>
          <a:xfrm>
            <a:off x="1325880" y="4828032"/>
            <a:ext cx="6035040" cy="320040"/>
          </a:xfrm>
          <a:prstGeom prst="rect">
            <a:avLst/>
          </a:prstGeom>
          <a:noFill/>
          <a:ln/>
        </p:spPr>
        <p:txBody>
          <a:bodyPr wrap="square" lIns="0" tIns="0" rIns="0" bIns="0" rtlCol="0" anchor="t"/>
          <a:lstStyle/>
          <a:p>
            <a:pPr algn="l" indent="0" marL="0">
              <a:lnSpc>
                <a:spcPct val="100000"/>
              </a:lnSpc>
              <a:buNone/>
            </a:pPr>
            <a:r>
              <a:rPr lang="en-US" sz="1600" b="1" dirty="0">
                <a:solidFill>
                  <a:srgbClr val="A78BFA"/>
                </a:solidFill>
                <a:latin typeface="Arial" pitchFamily="34" charset="0"/>
                <a:ea typeface="Arial" pitchFamily="34" charset="-122"/>
                <a:cs typeface="Arial" pitchFamily="34" charset="-120"/>
              </a:rPr>
              <a:t>Độ tin cậy</a:t>
            </a:r>
            <a:endParaRPr lang="en-US" sz="1600" dirty="0"/>
          </a:p>
        </p:txBody>
      </p:sp>
      <p:sp>
        <p:nvSpPr>
          <p:cNvPr id="18" name="Text 13"/>
          <p:cNvSpPr txBox="1"/>
          <p:nvPr/>
        </p:nvSpPr>
        <p:spPr>
          <a:xfrm>
            <a:off x="1325880" y="5148072"/>
            <a:ext cx="6126480" cy="457200"/>
          </a:xfrm>
          <a:prstGeom prst="rect">
            <a:avLst/>
          </a:prstGeom>
          <a:noFill/>
          <a:ln/>
        </p:spPr>
        <p:txBody>
          <a:bodyPr wrap="square" lIns="0" tIns="0" rIns="0" bIns="0" rtlCol="0" anchor="t"/>
          <a:lstStyle/>
          <a:p>
            <a:pPr algn="l" indent="0" marL="0">
              <a:lnSpc>
                <a:spcPct val="100000"/>
              </a:lnSpc>
              <a:buNone/>
            </a:pPr>
            <a:r>
              <a:rPr lang="en-US" sz="1400" dirty="0">
                <a:solidFill>
                  <a:srgbClr val="93A6C6"/>
                </a:solidFill>
                <a:latin typeface="Calibri" pitchFamily="34" charset="0"/>
                <a:ea typeface="Calibri" pitchFamily="34" charset="-122"/>
                <a:cs typeface="Calibri" pitchFamily="34" charset="-120"/>
              </a:rPr>
              <a:t>Lượng bằng chứng × chất lượng detector: bằng chứng yếu thì tự hạ mức cảnh báo.</a:t>
            </a:r>
            <a:endParaRPr lang="en-US" sz="1400" dirty="0"/>
          </a:p>
        </p:txBody>
      </p:sp>
      <p:sp>
        <p:nvSpPr>
          <p:cNvPr id="19" name="Text 14"/>
          <p:cNvSpPr txBox="1"/>
          <p:nvPr/>
        </p:nvSpPr>
        <p:spPr>
          <a:xfrm>
            <a:off x="548640" y="5806440"/>
            <a:ext cx="6949440" cy="320040"/>
          </a:xfrm>
          <a:prstGeom prst="rect">
            <a:avLst/>
          </a:prstGeom>
          <a:noFill/>
          <a:ln/>
        </p:spPr>
        <p:txBody>
          <a:bodyPr wrap="square" lIns="0" tIns="0" rIns="0" bIns="0" rtlCol="0" anchor="t"/>
          <a:lstStyle/>
          <a:p>
            <a:pPr algn="l" indent="0" marL="0">
              <a:lnSpc>
                <a:spcPct val="100000"/>
              </a:lnSpc>
              <a:buNone/>
            </a:pPr>
            <a:r>
              <a:rPr lang="en-US" sz="1200" i="1" dirty="0">
                <a:solidFill>
                  <a:srgbClr val="5E7194"/>
                </a:solidFill>
                <a:latin typeface="Calibri" pitchFamily="34" charset="0"/>
                <a:ea typeface="Calibri" pitchFamily="34" charset="-122"/>
                <a:cs typeface="Calibri" pitchFamily="34" charset="-120"/>
              </a:rPr>
              <a:t>Là điểm tổng hợp để xếp hạng, chưa phải xác suất đã hiệu chuẩn · ngưỡng HIGH ≥ 70% · trọng số cấu hình được.</a:t>
            </a:r>
            <a:endParaRPr lang="en-US" sz="1200" dirty="0"/>
          </a:p>
        </p:txBody>
      </p:sp>
      <p:sp>
        <p:nvSpPr>
          <p:cNvPr id="20" name="Shape 15"/>
          <p:cNvSpPr/>
          <p:nvPr/>
        </p:nvSpPr>
        <p:spPr>
          <a:xfrm>
            <a:off x="8419934" y="1655064"/>
            <a:ext cx="3259697" cy="4279392"/>
          </a:xfrm>
          <a:prstGeom prst="rect">
            <a:avLst/>
          </a:prstGeom>
          <a:solidFill>
            <a:srgbClr val="22395E"/>
          </a:solidFill>
          <a:ln w="12700">
            <a:solidFill>
              <a:srgbClr val="22395E"/>
            </a:solidFill>
            <a:prstDash val="solid"/>
          </a:ln>
        </p:spPr>
      </p:sp>
      <p:pic>
        <p:nvPicPr>
          <p:cNvPr id="21" name="Image 3" descr="C:/Temp/claude/deck/img/alert.png">    </p:cNvPr>
          <p:cNvPicPr>
            <a:picLocks noChangeAspect="1"/>
          </p:cNvPicPr>
          <p:nvPr/>
        </p:nvPicPr>
        <p:blipFill>
          <a:blip r:embed="rId4"/>
          <a:stretch>
            <a:fillRect/>
          </a:stretch>
        </p:blipFill>
        <p:spPr>
          <a:xfrm>
            <a:off x="8456510" y="1691640"/>
            <a:ext cx="3186545" cy="4206240"/>
          </a:xfrm>
          <a:prstGeom prst="rect">
            <a:avLst/>
          </a:prstGeom>
        </p:spPr>
      </p:pic>
      <p:sp>
        <p:nvSpPr>
          <p:cNvPr id="22" name="Text 16"/>
          <p:cNvSpPr txBox="1"/>
          <p:nvPr/>
        </p:nvSpPr>
        <p:spPr>
          <a:xfrm>
            <a:off x="8456510" y="6007608"/>
            <a:ext cx="3186545" cy="274320"/>
          </a:xfrm>
          <a:prstGeom prst="rect">
            <a:avLst/>
          </a:prstGeom>
          <a:noFill/>
          <a:ln/>
        </p:spPr>
        <p:txBody>
          <a:bodyPr wrap="square" lIns="0" tIns="0" rIns="0" bIns="0" rtlCol="0" anchor="t"/>
          <a:lstStyle/>
          <a:p>
            <a:pPr algn="ctr" indent="0" marL="0">
              <a:lnSpc>
                <a:spcPct val="100000"/>
              </a:lnSpc>
              <a:buNone/>
            </a:pPr>
            <a:r>
              <a:rPr lang="en-US" sz="1100" i="1" dirty="0">
                <a:solidFill>
                  <a:srgbClr val="5E7194"/>
                </a:solidFill>
                <a:latin typeface="Calibri" pitchFamily="34" charset="0"/>
                <a:ea typeface="Calibri" pitchFamily="34" charset="-122"/>
                <a:cs typeface="Calibri" pitchFamily="34" charset="-120"/>
              </a:rPr>
              <a:t>Thẻ cảnh báo trên dashboard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2C55E"/>
                </a:solidFill>
                <a:latin typeface="Arial" pitchFamily="34" charset="0"/>
                <a:ea typeface="Arial" pitchFamily="34" charset="-122"/>
                <a:cs typeface="Arial" pitchFamily="34" charset="-120"/>
              </a:rPr>
              <a:t>05 · DỮ LIỆU</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Dữ liệu thật, được kiểm định trước khi dùng</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6/12</a:t>
            </a:r>
            <a:endParaRPr lang="en-US" sz="1000" dirty="0"/>
          </a:p>
        </p:txBody>
      </p:sp>
      <p:sp>
        <p:nvSpPr>
          <p:cNvPr id="5" name="Shape 3"/>
          <p:cNvSpPr/>
          <p:nvPr/>
        </p:nvSpPr>
        <p:spPr>
          <a:xfrm>
            <a:off x="548640" y="1691640"/>
            <a:ext cx="2880360" cy="1600200"/>
          </a:xfrm>
          <a:prstGeom prst="roundRect">
            <a:avLst>
              <a:gd name="adj" fmla="val 5714"/>
            </a:avLst>
          </a:prstGeom>
          <a:solidFill>
            <a:srgbClr val="12233D"/>
          </a:solidFill>
          <a:ln w="9525">
            <a:solidFill>
              <a:srgbClr val="22395E"/>
            </a:solidFill>
            <a:prstDash val="solid"/>
          </a:ln>
        </p:spPr>
      </p:sp>
      <p:sp>
        <p:nvSpPr>
          <p:cNvPr id="6" name="Shape 4"/>
          <p:cNvSpPr/>
          <p:nvPr/>
        </p:nvSpPr>
        <p:spPr>
          <a:xfrm>
            <a:off x="777240" y="1874520"/>
            <a:ext cx="530352" cy="530352"/>
          </a:xfrm>
          <a:prstGeom prst="ellipse">
            <a:avLst/>
          </a:prstGeom>
          <a:solidFill>
            <a:srgbClr val="22D3EE">
              <a:alpha val="18000"/>
            </a:srgbClr>
          </a:solidFill>
          <a:ln w="12700">
            <a:solidFill>
              <a:srgbClr val="22D3EE">
                <a:alpha val="60000"/>
              </a:srgbClr>
            </a:solidFill>
            <a:prstDash val="solid"/>
          </a:ln>
        </p:spPr>
      </p:sp>
      <p:pic>
        <p:nvPicPr>
          <p:cNvPr id="7" name="Image 0" descr="preencoded.png">    </p:cNvPr>
          <p:cNvPicPr>
            <a:picLocks noChangeAspect="1"/>
          </p:cNvPicPr>
          <p:nvPr/>
        </p:nvPicPr>
        <p:blipFill>
          <a:blip r:embed="rId1"/>
          <a:stretch>
            <a:fillRect/>
          </a:stretch>
        </p:blipFill>
        <p:spPr>
          <a:xfrm>
            <a:off x="915132" y="2012412"/>
            <a:ext cx="254569" cy="254569"/>
          </a:xfrm>
          <a:prstGeom prst="rect">
            <a:avLst/>
          </a:prstGeom>
        </p:spPr>
      </p:pic>
      <p:sp>
        <p:nvSpPr>
          <p:cNvPr id="8" name="Text 5"/>
          <p:cNvSpPr txBox="1"/>
          <p:nvPr/>
        </p:nvSpPr>
        <p:spPr>
          <a:xfrm>
            <a:off x="1463040" y="1938528"/>
            <a:ext cx="1828800" cy="365760"/>
          </a:xfrm>
          <a:prstGeom prst="rect">
            <a:avLst/>
          </a:prstGeom>
          <a:noFill/>
          <a:ln/>
        </p:spPr>
        <p:txBody>
          <a:bodyPr wrap="square" lIns="0" tIns="0" rIns="0" bIns="0" rtlCol="0" anchor="t"/>
          <a:lstStyle/>
          <a:p>
            <a:pPr algn="l" indent="0" marL="0">
              <a:lnSpc>
                <a:spcPct val="100000"/>
              </a:lnSpc>
              <a:buNone/>
            </a:pPr>
            <a:r>
              <a:rPr lang="en-US" sz="1550" b="1" dirty="0">
                <a:solidFill>
                  <a:srgbClr val="E8EEF8"/>
                </a:solidFill>
                <a:latin typeface="Arial" pitchFamily="34" charset="0"/>
                <a:ea typeface="Arial" pitchFamily="34" charset="-122"/>
                <a:cs typeface="Arial" pitchFamily="34" charset="-120"/>
              </a:rPr>
              <a:t>Tự thu thập</a:t>
            </a:r>
            <a:endParaRPr lang="en-US" sz="1550" dirty="0"/>
          </a:p>
        </p:txBody>
      </p:sp>
      <p:sp>
        <p:nvSpPr>
          <p:cNvPr id="9" name="Text 6"/>
          <p:cNvSpPr txBox="1"/>
          <p:nvPr/>
        </p:nvSpPr>
        <p:spPr>
          <a:xfrm>
            <a:off x="777240" y="2542032"/>
            <a:ext cx="2560320" cy="68580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5 video kênh rạch TP.HCM · 236 giây</a:t>
            </a:r>
            <a:endParaRPr lang="en-US" sz="1250" dirty="0"/>
          </a:p>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1.420 frame phân tích (lấy mẫu 6 fps)</a:t>
            </a:r>
            <a:endParaRPr lang="en-US" sz="1250" dirty="0"/>
          </a:p>
        </p:txBody>
      </p:sp>
      <p:sp>
        <p:nvSpPr>
          <p:cNvPr id="10" name="Shape 7"/>
          <p:cNvSpPr/>
          <p:nvPr/>
        </p:nvSpPr>
        <p:spPr>
          <a:xfrm>
            <a:off x="3611880" y="1691640"/>
            <a:ext cx="2880360" cy="1600200"/>
          </a:xfrm>
          <a:prstGeom prst="roundRect">
            <a:avLst>
              <a:gd name="adj" fmla="val 5714"/>
            </a:avLst>
          </a:prstGeom>
          <a:solidFill>
            <a:srgbClr val="12233D"/>
          </a:solidFill>
          <a:ln w="9525">
            <a:solidFill>
              <a:srgbClr val="22395E"/>
            </a:solidFill>
            <a:prstDash val="solid"/>
          </a:ln>
        </p:spPr>
      </p:sp>
      <p:sp>
        <p:nvSpPr>
          <p:cNvPr id="11" name="Shape 8"/>
          <p:cNvSpPr/>
          <p:nvPr/>
        </p:nvSpPr>
        <p:spPr>
          <a:xfrm>
            <a:off x="3840480" y="1874520"/>
            <a:ext cx="530352" cy="530352"/>
          </a:xfrm>
          <a:prstGeom prst="ellipse">
            <a:avLst/>
          </a:prstGeom>
          <a:solidFill>
            <a:srgbClr val="2DD4BF">
              <a:alpha val="18000"/>
            </a:srgbClr>
          </a:solidFill>
          <a:ln w="12700">
            <a:solidFill>
              <a:srgbClr val="2DD4BF">
                <a:alpha val="60000"/>
              </a:srgbClr>
            </a:solidFill>
            <a:prstDash val="solid"/>
          </a:ln>
        </p:spPr>
      </p:sp>
      <p:pic>
        <p:nvPicPr>
          <p:cNvPr id="12" name="Image 1" descr="preencoded.png">    </p:cNvPr>
          <p:cNvPicPr>
            <a:picLocks noChangeAspect="1"/>
          </p:cNvPicPr>
          <p:nvPr/>
        </p:nvPicPr>
        <p:blipFill>
          <a:blip r:embed="rId2"/>
          <a:stretch>
            <a:fillRect/>
          </a:stretch>
        </p:blipFill>
        <p:spPr>
          <a:xfrm>
            <a:off x="3978372" y="2012412"/>
            <a:ext cx="254569" cy="254569"/>
          </a:xfrm>
          <a:prstGeom prst="rect">
            <a:avLst/>
          </a:prstGeom>
        </p:spPr>
      </p:pic>
      <p:sp>
        <p:nvSpPr>
          <p:cNvPr id="13" name="Text 9"/>
          <p:cNvSpPr txBox="1"/>
          <p:nvPr/>
        </p:nvSpPr>
        <p:spPr>
          <a:xfrm>
            <a:off x="4526280" y="1938528"/>
            <a:ext cx="1828800" cy="365760"/>
          </a:xfrm>
          <a:prstGeom prst="rect">
            <a:avLst/>
          </a:prstGeom>
          <a:noFill/>
          <a:ln/>
        </p:spPr>
        <p:txBody>
          <a:bodyPr wrap="square" lIns="0" tIns="0" rIns="0" bIns="0" rtlCol="0" anchor="t"/>
          <a:lstStyle/>
          <a:p>
            <a:pPr algn="l" indent="0" marL="0">
              <a:lnSpc>
                <a:spcPct val="100000"/>
              </a:lnSpc>
              <a:buNone/>
            </a:pPr>
            <a:r>
              <a:rPr lang="en-US" sz="1550" b="1" dirty="0">
                <a:solidFill>
                  <a:srgbClr val="E8EEF8"/>
                </a:solidFill>
                <a:latin typeface="Arial" pitchFamily="34" charset="0"/>
                <a:ea typeface="Arial" pitchFamily="34" charset="-122"/>
                <a:cs typeface="Arial" pitchFamily="34" charset="-120"/>
              </a:rPr>
              <a:t>Công khai · RiSID</a:t>
            </a:r>
            <a:endParaRPr lang="en-US" sz="1550" dirty="0"/>
          </a:p>
        </p:txBody>
      </p:sp>
      <p:sp>
        <p:nvSpPr>
          <p:cNvPr id="14" name="Text 10"/>
          <p:cNvSpPr txBox="1"/>
          <p:nvPr/>
        </p:nvSpPr>
        <p:spPr>
          <a:xfrm>
            <a:off x="3840480" y="2542032"/>
            <a:ext cx="2560320" cy="685800"/>
          </a:xfrm>
          <a:prstGeom prst="rect">
            <a:avLst/>
          </a:prstGeom>
          <a:noFill/>
          <a:ln/>
        </p:spPr>
        <p:txBody>
          <a:bodyPr wrap="square" lIns="0" tIns="0" rIns="0" bIns="0" rtlCol="0" anchor="t"/>
          <a:lstStyle/>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Kataoka et al. (2024) · 7.356 ảnh</a:t>
            </a:r>
            <a:endParaRPr lang="en-US" sz="1250" dirty="0"/>
          </a:p>
          <a:p>
            <a:pPr algn="l" indent="0" marL="0">
              <a:lnSpc>
                <a:spcPct val="105000"/>
              </a:lnSpc>
              <a:buNone/>
            </a:pPr>
            <a:r>
              <a:rPr lang="en-US" sz="1250" dirty="0">
                <a:solidFill>
                  <a:srgbClr val="93A6C6"/>
                </a:solidFill>
                <a:latin typeface="Calibri" pitchFamily="34" charset="0"/>
                <a:ea typeface="Calibri" pitchFamily="34" charset="-122"/>
                <a:cs typeface="Calibri" pitchFamily="34" charset="-120"/>
              </a:rPr>
              <a:t>8.022 mask polygon · 5 lớp rác nhựa</a:t>
            </a:r>
            <a:endParaRPr lang="en-US" sz="1250" dirty="0"/>
          </a:p>
        </p:txBody>
      </p:sp>
      <p:sp>
        <p:nvSpPr>
          <p:cNvPr id="15" name="Text 11"/>
          <p:cNvSpPr txBox="1"/>
          <p:nvPr/>
        </p:nvSpPr>
        <p:spPr>
          <a:xfrm>
            <a:off x="548640" y="3520440"/>
            <a:ext cx="54864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F59E0B"/>
                </a:solidFill>
                <a:latin typeface="Arial" pitchFamily="34" charset="0"/>
                <a:ea typeface="Arial" pitchFamily="34" charset="-122"/>
                <a:cs typeface="Arial" pitchFamily="34" charset="-120"/>
              </a:rPr>
              <a:t>KIỂM ĐỊNH BỘ RiSID</a:t>
            </a:r>
            <a:endParaRPr lang="en-US" sz="1200" dirty="0"/>
          </a:p>
        </p:txBody>
      </p:sp>
      <p:sp>
        <p:nvSpPr>
          <p:cNvPr id="16" name="Text 12"/>
          <p:cNvSpPr txBox="1"/>
          <p:nvPr/>
        </p:nvSpPr>
        <p:spPr>
          <a:xfrm>
            <a:off x="548640" y="3886200"/>
            <a:ext cx="1234440" cy="548640"/>
          </a:xfrm>
          <a:prstGeom prst="rect">
            <a:avLst/>
          </a:prstGeom>
          <a:noFill/>
          <a:ln/>
        </p:spPr>
        <p:txBody>
          <a:bodyPr wrap="square" lIns="0" tIns="0" rIns="0" bIns="0" rtlCol="0" anchor="t"/>
          <a:lstStyle/>
          <a:p>
            <a:pPr algn="l" indent="0" marL="0">
              <a:lnSpc>
                <a:spcPct val="100000"/>
              </a:lnSpc>
              <a:buNone/>
            </a:pPr>
            <a:r>
              <a:rPr lang="en-US" sz="3000" b="1" dirty="0">
                <a:solidFill>
                  <a:srgbClr val="F59E0B"/>
                </a:solidFill>
                <a:latin typeface="Arial" pitchFamily="34" charset="0"/>
                <a:ea typeface="Arial" pitchFamily="34" charset="-122"/>
                <a:cs typeface="Arial" pitchFamily="34" charset="-120"/>
              </a:rPr>
              <a:t>85%</a:t>
            </a:r>
            <a:endParaRPr lang="en-US" sz="3000" dirty="0"/>
          </a:p>
        </p:txBody>
      </p:sp>
      <p:sp>
        <p:nvSpPr>
          <p:cNvPr id="17" name="Text 13"/>
          <p:cNvSpPr txBox="1"/>
          <p:nvPr/>
        </p:nvSpPr>
        <p:spPr>
          <a:xfrm>
            <a:off x="1828800" y="3995928"/>
            <a:ext cx="4572000" cy="457200"/>
          </a:xfrm>
          <a:prstGeom prst="rect">
            <a:avLst/>
          </a:prstGeom>
          <a:noFill/>
          <a:ln/>
        </p:spPr>
        <p:txBody>
          <a:bodyPr wrap="square" lIns="0" tIns="0" rIns="0" bIns="0" rtlCol="0" anchor="t"/>
          <a:lstStyle/>
          <a:p>
            <a:pPr algn="l" indent="0" marL="0">
              <a:lnSpc>
                <a:spcPct val="100000"/>
              </a:lnSpc>
              <a:buNone/>
            </a:pPr>
            <a:r>
              <a:rPr lang="en-US" sz="1350" dirty="0">
                <a:solidFill>
                  <a:srgbClr val="E8EEF8"/>
                </a:solidFill>
                <a:latin typeface="Calibri" pitchFamily="34" charset="0"/>
                <a:ea typeface="Calibri" pitchFamily="34" charset="-122"/>
                <a:cs typeface="Calibri" pitchFamily="34" charset="-120"/>
              </a:rPr>
              <a:t>hộp bao gốc sai tỉ lệ → dựng lại hộp từ polygon</a:t>
            </a:r>
            <a:endParaRPr lang="en-US" sz="1350" dirty="0"/>
          </a:p>
        </p:txBody>
      </p:sp>
      <p:sp>
        <p:nvSpPr>
          <p:cNvPr id="18" name="Text 14"/>
          <p:cNvSpPr txBox="1"/>
          <p:nvPr/>
        </p:nvSpPr>
        <p:spPr>
          <a:xfrm>
            <a:off x="548640" y="4544568"/>
            <a:ext cx="1234440" cy="548640"/>
          </a:xfrm>
          <a:prstGeom prst="rect">
            <a:avLst/>
          </a:prstGeom>
          <a:noFill/>
          <a:ln/>
        </p:spPr>
        <p:txBody>
          <a:bodyPr wrap="square" lIns="0" tIns="0" rIns="0" bIns="0" rtlCol="0" anchor="t"/>
          <a:lstStyle/>
          <a:p>
            <a:pPr algn="l" indent="0" marL="0">
              <a:lnSpc>
                <a:spcPct val="100000"/>
              </a:lnSpc>
              <a:buNone/>
            </a:pPr>
            <a:r>
              <a:rPr lang="en-US" sz="3000" b="1" dirty="0">
                <a:solidFill>
                  <a:srgbClr val="F59E0B"/>
                </a:solidFill>
                <a:latin typeface="Arial" pitchFamily="34" charset="0"/>
                <a:ea typeface="Arial" pitchFamily="34" charset="-122"/>
                <a:cs typeface="Arial" pitchFamily="34" charset="-120"/>
              </a:rPr>
              <a:t>62%</a:t>
            </a:r>
            <a:endParaRPr lang="en-US" sz="3000" dirty="0"/>
          </a:p>
        </p:txBody>
      </p:sp>
      <p:sp>
        <p:nvSpPr>
          <p:cNvPr id="19" name="Text 15"/>
          <p:cNvSpPr txBox="1"/>
          <p:nvPr/>
        </p:nvSpPr>
        <p:spPr>
          <a:xfrm>
            <a:off x="1828800" y="4654296"/>
            <a:ext cx="4572000" cy="457200"/>
          </a:xfrm>
          <a:prstGeom prst="rect">
            <a:avLst/>
          </a:prstGeom>
          <a:noFill/>
          <a:ln/>
        </p:spPr>
        <p:txBody>
          <a:bodyPr wrap="square" lIns="0" tIns="0" rIns="0" bIns="0" rtlCol="0" anchor="t"/>
          <a:lstStyle/>
          <a:p>
            <a:pPr algn="l" indent="0" marL="0">
              <a:lnSpc>
                <a:spcPct val="100000"/>
              </a:lnSpc>
              <a:buNone/>
            </a:pPr>
            <a:r>
              <a:rPr lang="en-US" sz="1350" dirty="0">
                <a:solidFill>
                  <a:srgbClr val="E8EEF8"/>
                </a:solidFill>
                <a:latin typeface="Calibri" pitchFamily="34" charset="0"/>
                <a:ea typeface="Calibri" pitchFamily="34" charset="-122"/>
                <a:cs typeface="Calibri" pitchFamily="34" charset="-120"/>
              </a:rPr>
              <a:t>vật thể nhỏ hơn 32 px → huấn luyện ở 1024 px</a:t>
            </a:r>
            <a:endParaRPr lang="en-US" sz="1350" dirty="0"/>
          </a:p>
        </p:txBody>
      </p:sp>
      <p:sp>
        <p:nvSpPr>
          <p:cNvPr id="20" name="Text 16"/>
          <p:cNvSpPr txBox="1"/>
          <p:nvPr/>
        </p:nvSpPr>
        <p:spPr>
          <a:xfrm>
            <a:off x="548640" y="5202936"/>
            <a:ext cx="1234440" cy="548640"/>
          </a:xfrm>
          <a:prstGeom prst="rect">
            <a:avLst/>
          </a:prstGeom>
          <a:noFill/>
          <a:ln/>
        </p:spPr>
        <p:txBody>
          <a:bodyPr wrap="square" lIns="0" tIns="0" rIns="0" bIns="0" rtlCol="0" anchor="t"/>
          <a:lstStyle/>
          <a:p>
            <a:pPr algn="l" indent="0" marL="0">
              <a:lnSpc>
                <a:spcPct val="100000"/>
              </a:lnSpc>
              <a:buNone/>
            </a:pPr>
            <a:r>
              <a:rPr lang="en-US" sz="3000" b="1" dirty="0">
                <a:solidFill>
                  <a:srgbClr val="F59E0B"/>
                </a:solidFill>
                <a:latin typeface="Arial" pitchFamily="34" charset="0"/>
                <a:ea typeface="Arial" pitchFamily="34" charset="-122"/>
                <a:cs typeface="Arial" pitchFamily="34" charset="-120"/>
              </a:rPr>
              <a:t>279</a:t>
            </a:r>
            <a:endParaRPr lang="en-US" sz="3000" dirty="0"/>
          </a:p>
        </p:txBody>
      </p:sp>
      <p:sp>
        <p:nvSpPr>
          <p:cNvPr id="21" name="Text 17"/>
          <p:cNvSpPr txBox="1"/>
          <p:nvPr/>
        </p:nvSpPr>
        <p:spPr>
          <a:xfrm>
            <a:off x="1828800" y="5312664"/>
            <a:ext cx="4572000" cy="457200"/>
          </a:xfrm>
          <a:prstGeom prst="rect">
            <a:avLst/>
          </a:prstGeom>
          <a:noFill/>
          <a:ln/>
        </p:spPr>
        <p:txBody>
          <a:bodyPr wrap="square" lIns="0" tIns="0" rIns="0" bIns="0" rtlCol="0" anchor="t"/>
          <a:lstStyle/>
          <a:p>
            <a:pPr algn="l" indent="0" marL="0">
              <a:lnSpc>
                <a:spcPct val="100000"/>
              </a:lnSpc>
              <a:buNone/>
            </a:pPr>
            <a:r>
              <a:rPr lang="en-US" sz="1350" dirty="0">
                <a:solidFill>
                  <a:srgbClr val="E8EEF8"/>
                </a:solidFill>
                <a:latin typeface="Calibri" pitchFamily="34" charset="0"/>
                <a:ea typeface="Calibri" pitchFamily="34" charset="-122"/>
                <a:cs typeface="Calibri" pitchFamily="34" charset="-120"/>
              </a:rPr>
              <a:t>chuỗi video → chia train/val theo chuỗi, tránh rò rỉ</a:t>
            </a:r>
            <a:endParaRPr lang="en-US" sz="1350" dirty="0"/>
          </a:p>
        </p:txBody>
      </p:sp>
      <p:sp>
        <p:nvSpPr>
          <p:cNvPr id="22" name="Shape 18"/>
          <p:cNvSpPr/>
          <p:nvPr/>
        </p:nvSpPr>
        <p:spPr>
          <a:xfrm>
            <a:off x="6622999" y="1655064"/>
            <a:ext cx="5056632" cy="3395472"/>
          </a:xfrm>
          <a:prstGeom prst="rect">
            <a:avLst/>
          </a:prstGeom>
          <a:solidFill>
            <a:srgbClr val="22395E"/>
          </a:solidFill>
          <a:ln w="12700">
            <a:solidFill>
              <a:srgbClr val="22395E"/>
            </a:solidFill>
            <a:prstDash val="solid"/>
          </a:ln>
        </p:spPr>
      </p:sp>
      <p:pic>
        <p:nvPicPr>
          <p:cNvPr id="23" name="Image 2" descr="C:/Temp/claude/deck/img/risid_check.png">    </p:cNvPr>
          <p:cNvPicPr>
            <a:picLocks noChangeAspect="1"/>
          </p:cNvPicPr>
          <p:nvPr/>
        </p:nvPicPr>
        <p:blipFill>
          <a:blip r:embed="rId3"/>
          <a:stretch>
            <a:fillRect/>
          </a:stretch>
        </p:blipFill>
        <p:spPr>
          <a:xfrm>
            <a:off x="6659575" y="1691640"/>
            <a:ext cx="4983480" cy="3322320"/>
          </a:xfrm>
          <a:prstGeom prst="rect">
            <a:avLst/>
          </a:prstGeom>
        </p:spPr>
      </p:pic>
      <p:sp>
        <p:nvSpPr>
          <p:cNvPr id="24" name="Text 19"/>
          <p:cNvSpPr txBox="1"/>
          <p:nvPr/>
        </p:nvSpPr>
        <p:spPr>
          <a:xfrm>
            <a:off x="6659575" y="5123688"/>
            <a:ext cx="4983480" cy="274320"/>
          </a:xfrm>
          <a:prstGeom prst="rect">
            <a:avLst/>
          </a:prstGeom>
          <a:noFill/>
          <a:ln/>
        </p:spPr>
        <p:txBody>
          <a:bodyPr wrap="square" lIns="0" tIns="0" rIns="0" bIns="0" rtlCol="0" anchor="t"/>
          <a:lstStyle/>
          <a:p>
            <a:pPr algn="l" indent="0" marL="0">
              <a:lnSpc>
                <a:spcPct val="100000"/>
              </a:lnSpc>
              <a:buNone/>
            </a:pPr>
            <a:r>
              <a:rPr lang="en-US" sz="1150" i="1" dirty="0">
                <a:solidFill>
                  <a:srgbClr val="5E7194"/>
                </a:solidFill>
                <a:latin typeface="Calibri" pitchFamily="34" charset="0"/>
                <a:ea typeface="Calibri" pitchFamily="34" charset="-122"/>
                <a:cs typeface="Calibri" pitchFamily="34" charset="-120"/>
              </a:rPr>
              <a:t>Polygon (xanh) khớp vật thể; hộp bao gốc (đỏ) chỉ phủ khoảng 2/3.</a:t>
            </a:r>
            <a:endParaRPr lang="en-US" sz="1150" dirty="0"/>
          </a:p>
        </p:txBody>
      </p:sp>
      <p:sp>
        <p:nvSpPr>
          <p:cNvPr id="25" name="Shape 20"/>
          <p:cNvSpPr/>
          <p:nvPr/>
        </p:nvSpPr>
        <p:spPr>
          <a:xfrm>
            <a:off x="6659575" y="5486400"/>
            <a:ext cx="411480" cy="411480"/>
          </a:xfrm>
          <a:prstGeom prst="ellipse">
            <a:avLst/>
          </a:prstGeom>
          <a:solidFill>
            <a:srgbClr val="22C55E">
              <a:alpha val="18000"/>
            </a:srgbClr>
          </a:solidFill>
          <a:ln w="12700">
            <a:solidFill>
              <a:srgbClr val="22C55E">
                <a:alpha val="60000"/>
              </a:srgbClr>
            </a:solidFill>
            <a:prstDash val="solid"/>
          </a:ln>
        </p:spPr>
      </p:sp>
      <p:pic>
        <p:nvPicPr>
          <p:cNvPr id="26" name="Image 3" descr="preencoded.png">    </p:cNvPr>
          <p:cNvPicPr>
            <a:picLocks noChangeAspect="1"/>
          </p:cNvPicPr>
          <p:nvPr/>
        </p:nvPicPr>
        <p:blipFill>
          <a:blip r:embed="rId4"/>
          <a:stretch>
            <a:fillRect/>
          </a:stretch>
        </p:blipFill>
        <p:spPr>
          <a:xfrm>
            <a:off x="6766560" y="5593385"/>
            <a:ext cx="197510" cy="197510"/>
          </a:xfrm>
          <a:prstGeom prst="rect">
            <a:avLst/>
          </a:prstGeom>
        </p:spPr>
      </p:pic>
      <p:sp>
        <p:nvSpPr>
          <p:cNvPr id="27" name="Text 21"/>
          <p:cNvSpPr txBox="1"/>
          <p:nvPr/>
        </p:nvSpPr>
        <p:spPr>
          <a:xfrm>
            <a:off x="7208215" y="5504688"/>
            <a:ext cx="4434840" cy="457200"/>
          </a:xfrm>
          <a:prstGeom prst="rect">
            <a:avLst/>
          </a:prstGeom>
          <a:noFill/>
          <a:ln/>
        </p:spPr>
        <p:txBody>
          <a:bodyPr wrap="square" lIns="0" tIns="0" rIns="0" bIns="0" rtlCol="0" anchor="t"/>
          <a:lstStyle/>
          <a:p>
            <a:pPr algn="l" indent="0" marL="0">
              <a:lnSpc>
                <a:spcPct val="100000"/>
              </a:lnSpc>
              <a:buNone/>
            </a:pPr>
            <a:r>
              <a:rPr lang="en-US" sz="1200" dirty="0">
                <a:solidFill>
                  <a:srgbClr val="93A6C6"/>
                </a:solidFill>
                <a:latin typeface="Calibri" pitchFamily="34" charset="0"/>
                <a:ea typeface="Calibri" pitchFamily="34" charset="-122"/>
                <a:cs typeface="Calibri" pitchFamily="34" charset="-120"/>
              </a:rPr>
              <a:t>Không thu hình cận mặt người · nguồn gốc và giấy phép dữ liệu được kê khai trong hồ sơ.</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DD4BF"/>
                </a:solidFill>
                <a:latin typeface="Arial" pitchFamily="34" charset="0"/>
                <a:ea typeface="Arial" pitchFamily="34" charset="-122"/>
                <a:cs typeface="Arial" pitchFamily="34" charset="-120"/>
              </a:rPr>
              <a:t>06 · KẾT QUẢ</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Sản phẩm chạy đầu–cuối trên dữ liệu thật</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7/12</a:t>
            </a:r>
            <a:endParaRPr lang="en-US" sz="1000" dirty="0"/>
          </a:p>
        </p:txBody>
      </p:sp>
      <p:sp>
        <p:nvSpPr>
          <p:cNvPr id="5" name="Shape 3"/>
          <p:cNvSpPr/>
          <p:nvPr/>
        </p:nvSpPr>
        <p:spPr>
          <a:xfrm>
            <a:off x="548640" y="1691640"/>
            <a:ext cx="2560320" cy="1024128"/>
          </a:xfrm>
          <a:prstGeom prst="roundRect">
            <a:avLst>
              <a:gd name="adj" fmla="val 8929"/>
            </a:avLst>
          </a:prstGeom>
          <a:solidFill>
            <a:srgbClr val="12233D"/>
          </a:solidFill>
          <a:ln w="9525">
            <a:solidFill>
              <a:srgbClr val="22395E"/>
            </a:solidFill>
            <a:prstDash val="solid"/>
          </a:ln>
        </p:spPr>
      </p:sp>
      <p:sp>
        <p:nvSpPr>
          <p:cNvPr id="6" name="Text 4"/>
          <p:cNvSpPr txBox="1"/>
          <p:nvPr/>
        </p:nvSpPr>
        <p:spPr>
          <a:xfrm>
            <a:off x="777240" y="1783080"/>
            <a:ext cx="2194560" cy="548640"/>
          </a:xfrm>
          <a:prstGeom prst="rect">
            <a:avLst/>
          </a:prstGeom>
          <a:noFill/>
          <a:ln/>
        </p:spPr>
        <p:txBody>
          <a:bodyPr wrap="square" lIns="0" tIns="0" rIns="0" bIns="0" rtlCol="0" anchor="t"/>
          <a:lstStyle/>
          <a:p>
            <a:pPr algn="l" indent="0" marL="0">
              <a:lnSpc>
                <a:spcPct val="100000"/>
              </a:lnSpc>
              <a:buNone/>
            </a:pPr>
            <a:r>
              <a:rPr lang="en-US" sz="3000" b="1" dirty="0">
                <a:solidFill>
                  <a:srgbClr val="2DD4BF"/>
                </a:solidFill>
                <a:latin typeface="Arial" pitchFamily="34" charset="0"/>
                <a:ea typeface="Arial" pitchFamily="34" charset="-122"/>
                <a:cs typeface="Arial" pitchFamily="34" charset="-120"/>
              </a:rPr>
              <a:t>5</a:t>
            </a:r>
            <a:endParaRPr lang="en-US" sz="3000" dirty="0"/>
          </a:p>
        </p:txBody>
      </p:sp>
      <p:sp>
        <p:nvSpPr>
          <p:cNvPr id="7" name="Text 5"/>
          <p:cNvSpPr txBox="1"/>
          <p:nvPr/>
        </p:nvSpPr>
        <p:spPr>
          <a:xfrm>
            <a:off x="777240" y="2331720"/>
            <a:ext cx="224028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nguồn camera</a:t>
            </a:r>
            <a:endParaRPr lang="en-US" sz="1300" dirty="0"/>
          </a:p>
        </p:txBody>
      </p:sp>
      <p:sp>
        <p:nvSpPr>
          <p:cNvPr id="8" name="Shape 6"/>
          <p:cNvSpPr/>
          <p:nvPr/>
        </p:nvSpPr>
        <p:spPr>
          <a:xfrm>
            <a:off x="3291840" y="1691640"/>
            <a:ext cx="2560320" cy="1024128"/>
          </a:xfrm>
          <a:prstGeom prst="roundRect">
            <a:avLst>
              <a:gd name="adj" fmla="val 8929"/>
            </a:avLst>
          </a:prstGeom>
          <a:solidFill>
            <a:srgbClr val="12233D"/>
          </a:solidFill>
          <a:ln w="9525">
            <a:solidFill>
              <a:srgbClr val="22395E"/>
            </a:solidFill>
            <a:prstDash val="solid"/>
          </a:ln>
        </p:spPr>
      </p:sp>
      <p:sp>
        <p:nvSpPr>
          <p:cNvPr id="9" name="Text 7"/>
          <p:cNvSpPr txBox="1"/>
          <p:nvPr/>
        </p:nvSpPr>
        <p:spPr>
          <a:xfrm>
            <a:off x="3520440" y="1783080"/>
            <a:ext cx="2194560" cy="548640"/>
          </a:xfrm>
          <a:prstGeom prst="rect">
            <a:avLst/>
          </a:prstGeom>
          <a:noFill/>
          <a:ln/>
        </p:spPr>
        <p:txBody>
          <a:bodyPr wrap="square" lIns="0" tIns="0" rIns="0" bIns="0" rtlCol="0" anchor="t"/>
          <a:lstStyle/>
          <a:p>
            <a:pPr algn="l" indent="0" marL="0">
              <a:lnSpc>
                <a:spcPct val="100000"/>
              </a:lnSpc>
              <a:buNone/>
            </a:pPr>
            <a:r>
              <a:rPr lang="en-US" sz="3000" b="1" dirty="0">
                <a:solidFill>
                  <a:srgbClr val="2DD4BF"/>
                </a:solidFill>
                <a:latin typeface="Arial" pitchFamily="34" charset="0"/>
                <a:ea typeface="Arial" pitchFamily="34" charset="-122"/>
                <a:cs typeface="Arial" pitchFamily="34" charset="-120"/>
              </a:rPr>
              <a:t>1.420</a:t>
            </a:r>
            <a:endParaRPr lang="en-US" sz="3000" dirty="0"/>
          </a:p>
        </p:txBody>
      </p:sp>
      <p:sp>
        <p:nvSpPr>
          <p:cNvPr id="10" name="Text 8"/>
          <p:cNvSpPr txBox="1"/>
          <p:nvPr/>
        </p:nvSpPr>
        <p:spPr>
          <a:xfrm>
            <a:off x="3520440" y="2331720"/>
            <a:ext cx="224028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frame phân tích</a:t>
            </a:r>
            <a:endParaRPr lang="en-US" sz="1300" dirty="0"/>
          </a:p>
        </p:txBody>
      </p:sp>
      <p:sp>
        <p:nvSpPr>
          <p:cNvPr id="11" name="Shape 9"/>
          <p:cNvSpPr/>
          <p:nvPr/>
        </p:nvSpPr>
        <p:spPr>
          <a:xfrm>
            <a:off x="548640" y="2880360"/>
            <a:ext cx="2560320" cy="1024128"/>
          </a:xfrm>
          <a:prstGeom prst="roundRect">
            <a:avLst>
              <a:gd name="adj" fmla="val 8929"/>
            </a:avLst>
          </a:prstGeom>
          <a:solidFill>
            <a:srgbClr val="12233D"/>
          </a:solidFill>
          <a:ln w="9525">
            <a:solidFill>
              <a:srgbClr val="22395E"/>
            </a:solidFill>
            <a:prstDash val="solid"/>
          </a:ln>
        </p:spPr>
      </p:sp>
      <p:sp>
        <p:nvSpPr>
          <p:cNvPr id="12" name="Text 10"/>
          <p:cNvSpPr txBox="1"/>
          <p:nvPr/>
        </p:nvSpPr>
        <p:spPr>
          <a:xfrm>
            <a:off x="777240" y="2971800"/>
            <a:ext cx="2194560" cy="548640"/>
          </a:xfrm>
          <a:prstGeom prst="rect">
            <a:avLst/>
          </a:prstGeom>
          <a:noFill/>
          <a:ln/>
        </p:spPr>
        <p:txBody>
          <a:bodyPr wrap="square" lIns="0" tIns="0" rIns="0" bIns="0" rtlCol="0" anchor="t"/>
          <a:lstStyle/>
          <a:p>
            <a:pPr algn="l" indent="0" marL="0">
              <a:lnSpc>
                <a:spcPct val="100000"/>
              </a:lnSpc>
              <a:buNone/>
            </a:pPr>
            <a:r>
              <a:rPr lang="en-US" sz="3000" b="1" dirty="0">
                <a:solidFill>
                  <a:srgbClr val="2DD4BF"/>
                </a:solidFill>
                <a:latin typeface="Arial" pitchFamily="34" charset="0"/>
                <a:ea typeface="Arial" pitchFamily="34" charset="-122"/>
                <a:cs typeface="Arial" pitchFamily="34" charset="-120"/>
              </a:rPr>
              <a:t>1.667</a:t>
            </a:r>
            <a:endParaRPr lang="en-US" sz="3000" dirty="0"/>
          </a:p>
        </p:txBody>
      </p:sp>
      <p:sp>
        <p:nvSpPr>
          <p:cNvPr id="13" name="Text 11"/>
          <p:cNvSpPr txBox="1"/>
          <p:nvPr/>
        </p:nvSpPr>
        <p:spPr>
          <a:xfrm>
            <a:off x="777240" y="3520440"/>
            <a:ext cx="224028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lượt phát hiện</a:t>
            </a:r>
            <a:endParaRPr lang="en-US" sz="1300" dirty="0"/>
          </a:p>
        </p:txBody>
      </p:sp>
      <p:sp>
        <p:nvSpPr>
          <p:cNvPr id="14" name="Shape 12"/>
          <p:cNvSpPr/>
          <p:nvPr/>
        </p:nvSpPr>
        <p:spPr>
          <a:xfrm>
            <a:off x="3291840" y="2880360"/>
            <a:ext cx="2560320" cy="1024128"/>
          </a:xfrm>
          <a:prstGeom prst="roundRect">
            <a:avLst>
              <a:gd name="adj" fmla="val 8929"/>
            </a:avLst>
          </a:prstGeom>
          <a:solidFill>
            <a:srgbClr val="12233D"/>
          </a:solidFill>
          <a:ln w="9525">
            <a:solidFill>
              <a:srgbClr val="22395E"/>
            </a:solidFill>
            <a:prstDash val="solid"/>
          </a:ln>
        </p:spPr>
      </p:sp>
      <p:sp>
        <p:nvSpPr>
          <p:cNvPr id="15" name="Text 13"/>
          <p:cNvSpPr txBox="1"/>
          <p:nvPr/>
        </p:nvSpPr>
        <p:spPr>
          <a:xfrm>
            <a:off x="3520440" y="2971800"/>
            <a:ext cx="2194560" cy="548640"/>
          </a:xfrm>
          <a:prstGeom prst="rect">
            <a:avLst/>
          </a:prstGeom>
          <a:noFill/>
          <a:ln/>
        </p:spPr>
        <p:txBody>
          <a:bodyPr wrap="square" lIns="0" tIns="0" rIns="0" bIns="0" rtlCol="0" anchor="t"/>
          <a:lstStyle/>
          <a:p>
            <a:pPr algn="l" indent="0" marL="0">
              <a:lnSpc>
                <a:spcPct val="100000"/>
              </a:lnSpc>
              <a:buNone/>
            </a:pPr>
            <a:r>
              <a:rPr lang="en-US" sz="3000" b="1" dirty="0">
                <a:solidFill>
                  <a:srgbClr val="2DD4BF"/>
                </a:solidFill>
                <a:latin typeface="Arial" pitchFamily="34" charset="0"/>
                <a:ea typeface="Arial" pitchFamily="34" charset="-122"/>
                <a:cs typeface="Arial" pitchFamily="34" charset="-120"/>
              </a:rPr>
              <a:t>2,3</a:t>
            </a:r>
            <a:endParaRPr lang="en-US" sz="3000" dirty="0"/>
          </a:p>
        </p:txBody>
      </p:sp>
      <p:sp>
        <p:nvSpPr>
          <p:cNvPr id="16" name="Text 14"/>
          <p:cNvSpPr txBox="1"/>
          <p:nvPr/>
        </p:nvSpPr>
        <p:spPr>
          <a:xfrm>
            <a:off x="3520440" y="3520440"/>
            <a:ext cx="2240280" cy="320040"/>
          </a:xfrm>
          <a:prstGeom prst="rect">
            <a:avLst/>
          </a:prstGeom>
          <a:noFill/>
          <a:ln/>
        </p:spPr>
        <p:txBody>
          <a:bodyPr wrap="square" lIns="0" tIns="0" rIns="0" bIns="0" rtlCol="0" anchor="t"/>
          <a:lstStyle/>
          <a:p>
            <a:pPr algn="l" indent="0" marL="0">
              <a:lnSpc>
                <a:spcPct val="100000"/>
              </a:lnSpc>
              <a:buNone/>
            </a:pPr>
            <a:r>
              <a:rPr lang="en-US" sz="1300" dirty="0">
                <a:solidFill>
                  <a:srgbClr val="93A6C6"/>
                </a:solidFill>
                <a:latin typeface="Calibri" pitchFamily="34" charset="0"/>
                <a:ea typeface="Calibri" pitchFamily="34" charset="-122"/>
                <a:cs typeface="Calibri" pitchFamily="34" charset="-120"/>
              </a:rPr>
              <a:t>FPS xử lý · GTX 1650</a:t>
            </a:r>
            <a:endParaRPr lang="en-US" sz="1300" dirty="0"/>
          </a:p>
        </p:txBody>
      </p:sp>
      <p:pic>
        <p:nvPicPr>
          <p:cNvPr id="17" name="Image 0" descr="preencoded.png">    </p:cNvPr>
          <p:cNvPicPr>
            <a:picLocks noChangeAspect="1"/>
          </p:cNvPicPr>
          <p:nvPr/>
        </p:nvPicPr>
        <p:blipFill>
          <a:blip r:embed="rId1"/>
          <a:stretch>
            <a:fillRect/>
          </a:stretch>
        </p:blipFill>
        <p:spPr>
          <a:xfrm>
            <a:off x="548640" y="4233672"/>
            <a:ext cx="256032" cy="256032"/>
          </a:xfrm>
          <a:prstGeom prst="rect">
            <a:avLst/>
          </a:prstGeom>
        </p:spPr>
      </p:pic>
      <p:sp>
        <p:nvSpPr>
          <p:cNvPr id="18" name="Text 15"/>
          <p:cNvSpPr txBox="1"/>
          <p:nvPr/>
        </p:nvSpPr>
        <p:spPr>
          <a:xfrm>
            <a:off x="932688" y="4206240"/>
            <a:ext cx="4846320" cy="320040"/>
          </a:xfrm>
          <a:prstGeom prst="rect">
            <a:avLst/>
          </a:prstGeom>
          <a:noFill/>
          <a:ln/>
        </p:spPr>
        <p:txBody>
          <a:bodyPr wrap="square" lIns="0" tIns="0" rIns="0" bIns="0" rtlCol="0" anchor="t"/>
          <a:lstStyle/>
          <a:p>
            <a:pPr algn="l" indent="0" marL="0">
              <a:lnSpc>
                <a:spcPct val="100000"/>
              </a:lnSpc>
              <a:buNone/>
            </a:pPr>
            <a:r>
              <a:rPr lang="en-US" sz="1450" dirty="0">
                <a:solidFill>
                  <a:srgbClr val="E8EEF8"/>
                </a:solidFill>
                <a:latin typeface="Calibri" pitchFamily="34" charset="0"/>
                <a:ea typeface="Calibri" pitchFamily="34" charset="-122"/>
                <a:cs typeface="Calibri" pitchFamily="34" charset="-120"/>
              </a:rPr>
              <a:t>Camera trực tiếp: khung · ID · quỹ đạo</a:t>
            </a:r>
            <a:endParaRPr lang="en-US" sz="1450" dirty="0"/>
          </a:p>
        </p:txBody>
      </p:sp>
      <p:pic>
        <p:nvPicPr>
          <p:cNvPr id="19" name="Image 1" descr="preencoded.png">    </p:cNvPr>
          <p:cNvPicPr>
            <a:picLocks noChangeAspect="1"/>
          </p:cNvPicPr>
          <p:nvPr/>
        </p:nvPicPr>
        <p:blipFill>
          <a:blip r:embed="rId2"/>
          <a:stretch>
            <a:fillRect/>
          </a:stretch>
        </p:blipFill>
        <p:spPr>
          <a:xfrm>
            <a:off x="548640" y="4636008"/>
            <a:ext cx="256032" cy="256032"/>
          </a:xfrm>
          <a:prstGeom prst="rect">
            <a:avLst/>
          </a:prstGeom>
        </p:spPr>
      </p:pic>
      <p:sp>
        <p:nvSpPr>
          <p:cNvPr id="20" name="Text 16"/>
          <p:cNvSpPr txBox="1"/>
          <p:nvPr/>
        </p:nvSpPr>
        <p:spPr>
          <a:xfrm>
            <a:off x="932688" y="4608576"/>
            <a:ext cx="4846320" cy="320040"/>
          </a:xfrm>
          <a:prstGeom prst="rect">
            <a:avLst/>
          </a:prstGeom>
          <a:noFill/>
          <a:ln/>
        </p:spPr>
        <p:txBody>
          <a:bodyPr wrap="square" lIns="0" tIns="0" rIns="0" bIns="0" rtlCol="0" anchor="t"/>
          <a:lstStyle/>
          <a:p>
            <a:pPr algn="l" indent="0" marL="0">
              <a:lnSpc>
                <a:spcPct val="100000"/>
              </a:lnSpc>
              <a:buNone/>
            </a:pPr>
            <a:r>
              <a:rPr lang="en-US" sz="1450" dirty="0">
                <a:solidFill>
                  <a:srgbClr val="E8EEF8"/>
                </a:solidFill>
                <a:latin typeface="Calibri" pitchFamily="34" charset="0"/>
                <a:ea typeface="Calibri" pitchFamily="34" charset="-122"/>
                <a:cs typeface="Calibri" pitchFamily="34" charset="-120"/>
              </a:rPr>
              <a:t>Hotspot Alert kèm mục “Vì sao?”</a:t>
            </a:r>
            <a:endParaRPr lang="en-US" sz="1450" dirty="0"/>
          </a:p>
        </p:txBody>
      </p:sp>
      <p:pic>
        <p:nvPicPr>
          <p:cNvPr id="21" name="Image 2" descr="preencoded.png">    </p:cNvPr>
          <p:cNvPicPr>
            <a:picLocks noChangeAspect="1"/>
          </p:cNvPicPr>
          <p:nvPr/>
        </p:nvPicPr>
        <p:blipFill>
          <a:blip r:embed="rId3"/>
          <a:stretch>
            <a:fillRect/>
          </a:stretch>
        </p:blipFill>
        <p:spPr>
          <a:xfrm>
            <a:off x="548640" y="5038344"/>
            <a:ext cx="256032" cy="256032"/>
          </a:xfrm>
          <a:prstGeom prst="rect">
            <a:avLst/>
          </a:prstGeom>
        </p:spPr>
      </p:pic>
      <p:sp>
        <p:nvSpPr>
          <p:cNvPr id="22" name="Text 17"/>
          <p:cNvSpPr txBox="1"/>
          <p:nvPr/>
        </p:nvSpPr>
        <p:spPr>
          <a:xfrm>
            <a:off x="932688" y="5010912"/>
            <a:ext cx="4846320" cy="320040"/>
          </a:xfrm>
          <a:prstGeom prst="rect">
            <a:avLst/>
          </a:prstGeom>
          <a:noFill/>
          <a:ln/>
        </p:spPr>
        <p:txBody>
          <a:bodyPr wrap="square" lIns="0" tIns="0" rIns="0" bIns="0" rtlCol="0" anchor="t"/>
          <a:lstStyle/>
          <a:p>
            <a:pPr algn="l" indent="0" marL="0">
              <a:lnSpc>
                <a:spcPct val="100000"/>
              </a:lnSpc>
              <a:buNone/>
            </a:pPr>
            <a:r>
              <a:rPr lang="en-US" sz="1450" dirty="0">
                <a:solidFill>
                  <a:srgbClr val="E8EEF8"/>
                </a:solidFill>
                <a:latin typeface="Calibri" pitchFamily="34" charset="0"/>
                <a:ea typeface="Calibri" pitchFamily="34" charset="-122"/>
                <a:cs typeface="Calibri" pitchFamily="34" charset="-120"/>
              </a:rPr>
              <a:t>Bản đồ rủi ro: góc camera và GIS</a:t>
            </a:r>
            <a:endParaRPr lang="en-US" sz="1450" dirty="0"/>
          </a:p>
        </p:txBody>
      </p:sp>
      <p:pic>
        <p:nvPicPr>
          <p:cNvPr id="23" name="Image 3" descr="preencoded.png">    </p:cNvPr>
          <p:cNvPicPr>
            <a:picLocks noChangeAspect="1"/>
          </p:cNvPicPr>
          <p:nvPr/>
        </p:nvPicPr>
        <p:blipFill>
          <a:blip r:embed="rId4"/>
          <a:stretch>
            <a:fillRect/>
          </a:stretch>
        </p:blipFill>
        <p:spPr>
          <a:xfrm>
            <a:off x="548640" y="5440680"/>
            <a:ext cx="256032" cy="256032"/>
          </a:xfrm>
          <a:prstGeom prst="rect">
            <a:avLst/>
          </a:prstGeom>
        </p:spPr>
      </p:pic>
      <p:sp>
        <p:nvSpPr>
          <p:cNvPr id="24" name="Text 18"/>
          <p:cNvSpPr txBox="1"/>
          <p:nvPr/>
        </p:nvSpPr>
        <p:spPr>
          <a:xfrm>
            <a:off x="932688" y="5413248"/>
            <a:ext cx="4846320" cy="320040"/>
          </a:xfrm>
          <a:prstGeom prst="rect">
            <a:avLst/>
          </a:prstGeom>
          <a:noFill/>
          <a:ln/>
        </p:spPr>
        <p:txBody>
          <a:bodyPr wrap="square" lIns="0" tIns="0" rIns="0" bIns="0" rtlCol="0" anchor="t"/>
          <a:lstStyle/>
          <a:p>
            <a:pPr algn="l" indent="0" marL="0">
              <a:lnSpc>
                <a:spcPct val="100000"/>
              </a:lnSpc>
              <a:buNone/>
            </a:pPr>
            <a:r>
              <a:rPr lang="en-US" sz="1450" dirty="0">
                <a:solidFill>
                  <a:srgbClr val="E8EEF8"/>
                </a:solidFill>
                <a:latin typeface="Calibri" pitchFamily="34" charset="0"/>
                <a:ea typeface="Calibri" pitchFamily="34" charset="-122"/>
                <a:cs typeface="Calibri" pitchFamily="34" charset="-120"/>
              </a:rPr>
              <a:t>Hàng đợi ưu tiên toàn mạng · xuất CSV/JSON</a:t>
            </a:r>
            <a:endParaRPr lang="en-US" sz="1450" dirty="0"/>
          </a:p>
        </p:txBody>
      </p:sp>
      <p:pic>
        <p:nvPicPr>
          <p:cNvPr id="25" name="Image 4" descr="preencoded.png">    </p:cNvPr>
          <p:cNvPicPr>
            <a:picLocks noChangeAspect="1"/>
          </p:cNvPicPr>
          <p:nvPr/>
        </p:nvPicPr>
        <p:blipFill>
          <a:blip r:embed="rId5"/>
          <a:stretch>
            <a:fillRect/>
          </a:stretch>
        </p:blipFill>
        <p:spPr>
          <a:xfrm>
            <a:off x="548640" y="5843016"/>
            <a:ext cx="256032" cy="256032"/>
          </a:xfrm>
          <a:prstGeom prst="rect">
            <a:avLst/>
          </a:prstGeom>
        </p:spPr>
      </p:pic>
      <p:sp>
        <p:nvSpPr>
          <p:cNvPr id="26" name="Text 19"/>
          <p:cNvSpPr txBox="1"/>
          <p:nvPr/>
        </p:nvSpPr>
        <p:spPr>
          <a:xfrm>
            <a:off x="932688" y="5815584"/>
            <a:ext cx="4846320" cy="320040"/>
          </a:xfrm>
          <a:prstGeom prst="rect">
            <a:avLst/>
          </a:prstGeom>
          <a:noFill/>
          <a:ln/>
        </p:spPr>
        <p:txBody>
          <a:bodyPr wrap="square" lIns="0" tIns="0" rIns="0" bIns="0" rtlCol="0" anchor="t"/>
          <a:lstStyle/>
          <a:p>
            <a:pPr algn="l" indent="0" marL="0">
              <a:lnSpc>
                <a:spcPct val="100000"/>
              </a:lnSpc>
              <a:buNone/>
            </a:pPr>
            <a:r>
              <a:rPr lang="en-US" sz="1450" dirty="0">
                <a:solidFill>
                  <a:srgbClr val="E8EEF8"/>
                </a:solidFill>
                <a:latin typeface="Calibri" pitchFamily="34" charset="0"/>
                <a:ea typeface="Calibri" pitchFamily="34" charset="-122"/>
                <a:cs typeface="Calibri" pitchFamily="34" charset="-120"/>
              </a:rPr>
              <a:t>26 kiểm thử tự động · API FastAPI</a:t>
            </a:r>
            <a:endParaRPr lang="en-US" sz="1450" dirty="0"/>
          </a:p>
        </p:txBody>
      </p:sp>
      <p:sp>
        <p:nvSpPr>
          <p:cNvPr id="27" name="Shape 20"/>
          <p:cNvSpPr/>
          <p:nvPr/>
        </p:nvSpPr>
        <p:spPr>
          <a:xfrm>
            <a:off x="6495218" y="1609344"/>
            <a:ext cx="5184414" cy="5056632"/>
          </a:xfrm>
          <a:prstGeom prst="rect">
            <a:avLst/>
          </a:prstGeom>
          <a:solidFill>
            <a:srgbClr val="22395E"/>
          </a:solidFill>
          <a:ln w="12700">
            <a:solidFill>
              <a:srgbClr val="22395E"/>
            </a:solidFill>
            <a:prstDash val="solid"/>
          </a:ln>
        </p:spPr>
      </p:sp>
      <p:pic>
        <p:nvPicPr>
          <p:cNvPr id="28" name="Image 5" descr="C:/Temp/claude/deck/img/dash_ops.png">    </p:cNvPr>
          <p:cNvPicPr>
            <a:picLocks noChangeAspect="1"/>
          </p:cNvPicPr>
          <p:nvPr/>
        </p:nvPicPr>
        <p:blipFill>
          <a:blip r:embed="rId6"/>
          <a:stretch>
            <a:fillRect/>
          </a:stretch>
        </p:blipFill>
        <p:spPr>
          <a:xfrm>
            <a:off x="6531794" y="1645920"/>
            <a:ext cx="5111262" cy="4983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F59E0B"/>
                </a:solidFill>
                <a:latin typeface="Arial" pitchFamily="34" charset="0"/>
                <a:ea typeface="Arial" pitchFamily="34" charset="-122"/>
                <a:cs typeface="Arial" pitchFamily="34" charset="-120"/>
              </a:rPr>
              <a:t>07 · ĐÁNH GIÁ · ABLATION</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Mỗi thành phần đóng góp bao nhiêu?</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8/12</a:t>
            </a:r>
            <a:endParaRPr lang="en-US" sz="1000" dirty="0"/>
          </a:p>
        </p:txBody>
      </p:sp>
      <p:sp>
        <p:nvSpPr>
          <p:cNvPr id="5" name="Shape 3"/>
          <p:cNvSpPr/>
          <p:nvPr/>
        </p:nvSpPr>
        <p:spPr>
          <a:xfrm>
            <a:off x="548640" y="1645920"/>
            <a:ext cx="6355080" cy="3611880"/>
          </a:xfrm>
          <a:prstGeom prst="roundRect">
            <a:avLst>
              <a:gd name="adj" fmla="val 2532"/>
            </a:avLst>
          </a:prstGeom>
          <a:solidFill>
            <a:srgbClr val="12233D"/>
          </a:solidFill>
          <a:ln w="9525">
            <a:solidFill>
              <a:srgbClr val="22395E"/>
            </a:solidFill>
            <a:prstDash val="solid"/>
          </a:ln>
        </p:spPr>
      </p:sp>
      <p:graphicFrame>
        <p:nvGraphicFramePr>
          <p:cNvPr id="6" name="Chart 0" descr=""/>
          <p:cNvGraphicFramePr/>
          <p:nvPr/>
        </p:nvGraphicFramePr>
        <p:xfrm>
          <a:off x="640080" y="1737360"/>
          <a:ext cx="6172200" cy="3429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086600" y="1645920"/>
            <a:ext cx="4556455" cy="3611880"/>
          </a:xfrm>
          <a:prstGeom prst="roundRect">
            <a:avLst>
              <a:gd name="adj" fmla="val 2532"/>
            </a:avLst>
          </a:prstGeom>
          <a:solidFill>
            <a:srgbClr val="12233D"/>
          </a:solidFill>
          <a:ln w="9525">
            <a:solidFill>
              <a:srgbClr val="22395E"/>
            </a:solidFill>
            <a:prstDash val="solid"/>
          </a:ln>
        </p:spPr>
      </p:sp>
      <p:graphicFrame>
        <p:nvGraphicFramePr>
          <p:cNvPr id="8" name="Chart 1" descr=""/>
          <p:cNvGraphicFramePr/>
          <p:nvPr/>
        </p:nvGraphicFramePr>
        <p:xfrm>
          <a:off x="7178040" y="1737360"/>
          <a:ext cx="4373575" cy="342900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5440680"/>
            <a:ext cx="2331720" cy="457200"/>
          </a:xfrm>
          <a:prstGeom prst="rect">
            <a:avLst/>
          </a:prstGeom>
          <a:noFill/>
          <a:ln/>
        </p:spPr>
        <p:txBody>
          <a:bodyPr wrap="square" lIns="0" tIns="0" rIns="0" bIns="0" rtlCol="0" anchor="t"/>
          <a:lstStyle/>
          <a:p>
            <a:pPr algn="l" indent="0" marL="0">
              <a:lnSpc>
                <a:spcPct val="100000"/>
              </a:lnSpc>
              <a:buNone/>
            </a:pPr>
            <a:r>
              <a:rPr lang="en-US" sz="2100" b="1" dirty="0">
                <a:solidFill>
                  <a:srgbClr val="F59E0B"/>
                </a:solidFill>
                <a:latin typeface="Arial" pitchFamily="34" charset="0"/>
                <a:ea typeface="Arial" pitchFamily="34" charset="-122"/>
                <a:cs typeface="Arial" pitchFamily="34" charset="-120"/>
              </a:rPr>
              <a:t>~33% → ~76%</a:t>
            </a:r>
            <a:endParaRPr lang="en-US" sz="2100" dirty="0"/>
          </a:p>
        </p:txBody>
      </p:sp>
      <p:sp>
        <p:nvSpPr>
          <p:cNvPr id="10" name="Text 6"/>
          <p:cNvSpPr txBox="1"/>
          <p:nvPr/>
        </p:nvSpPr>
        <p:spPr>
          <a:xfrm>
            <a:off x="2926080" y="5422392"/>
            <a:ext cx="3154680" cy="685800"/>
          </a:xfrm>
          <a:prstGeom prst="rect">
            <a:avLst/>
          </a:prstGeom>
          <a:noFill/>
          <a:ln/>
        </p:spPr>
        <p:txBody>
          <a:bodyPr wrap="square" lIns="0" tIns="0" rIns="0" bIns="0" rtlCol="0" anchor="t"/>
          <a:lstStyle/>
          <a:p>
            <a:pPr algn="l" indent="0" marL="0">
              <a:lnSpc>
                <a:spcPct val="100000"/>
              </a:lnSpc>
              <a:buNone/>
            </a:pPr>
            <a:r>
              <a:rPr lang="en-US" sz="1200" dirty="0">
                <a:solidFill>
                  <a:srgbClr val="93A6C6"/>
                </a:solidFill>
                <a:latin typeface="Calibri" pitchFamily="34" charset="0"/>
                <a:ea typeface="Calibri" pitchFamily="34" charset="-122"/>
                <a:cs typeface="Calibri" pitchFamily="34" charset="-120"/>
              </a:rPr>
              <a:t>Ghép theo khoảng cách tâm là thành phần đóng góp chính; chỉ thêm dự đoán vận tốc gần như không cải thiện.</a:t>
            </a:r>
            <a:endParaRPr lang="en-US" sz="1200" dirty="0"/>
          </a:p>
        </p:txBody>
      </p:sp>
      <p:sp>
        <p:nvSpPr>
          <p:cNvPr id="11" name="Text 7"/>
          <p:cNvSpPr txBox="1"/>
          <p:nvPr/>
        </p:nvSpPr>
        <p:spPr>
          <a:xfrm>
            <a:off x="6217920" y="5440680"/>
            <a:ext cx="2331720" cy="457200"/>
          </a:xfrm>
          <a:prstGeom prst="rect">
            <a:avLst/>
          </a:prstGeom>
          <a:noFill/>
          <a:ln/>
        </p:spPr>
        <p:txBody>
          <a:bodyPr wrap="square" lIns="0" tIns="0" rIns="0" bIns="0" rtlCol="0" anchor="t"/>
          <a:lstStyle/>
          <a:p>
            <a:pPr algn="l" indent="0" marL="0">
              <a:lnSpc>
                <a:spcPct val="100000"/>
              </a:lnSpc>
              <a:buNone/>
            </a:pPr>
            <a:r>
              <a:rPr lang="en-US" sz="2100" b="1" dirty="0">
                <a:solidFill>
                  <a:srgbClr val="F59E0B"/>
                </a:solidFill>
                <a:latin typeface="Arial" pitchFamily="34" charset="0"/>
                <a:ea typeface="Arial" pitchFamily="34" charset="-122"/>
                <a:cs typeface="Arial" pitchFamily="34" charset="-120"/>
              </a:rPr>
              <a:t>51–67% → 8–20%</a:t>
            </a:r>
            <a:endParaRPr lang="en-US" sz="2100" dirty="0"/>
          </a:p>
        </p:txBody>
      </p:sp>
      <p:sp>
        <p:nvSpPr>
          <p:cNvPr id="12" name="Text 8"/>
          <p:cNvSpPr txBox="1"/>
          <p:nvPr/>
        </p:nvSpPr>
        <p:spPr>
          <a:xfrm>
            <a:off x="8595360" y="5422392"/>
            <a:ext cx="3154680" cy="685800"/>
          </a:xfrm>
          <a:prstGeom prst="rect">
            <a:avLst/>
          </a:prstGeom>
          <a:noFill/>
          <a:ln/>
        </p:spPr>
        <p:txBody>
          <a:bodyPr wrap="square" lIns="0" tIns="0" rIns="0" bIns="0" rtlCol="0" anchor="t"/>
          <a:lstStyle/>
          <a:p>
            <a:pPr algn="l" indent="0" marL="0">
              <a:lnSpc>
                <a:spcPct val="100000"/>
              </a:lnSpc>
              <a:buNone/>
            </a:pPr>
            <a:r>
              <a:rPr lang="en-US" sz="1200" dirty="0">
                <a:solidFill>
                  <a:srgbClr val="93A6C6"/>
                </a:solidFill>
                <a:latin typeface="Calibri" pitchFamily="34" charset="0"/>
                <a:ea typeface="Calibri" pitchFamily="34" charset="-122"/>
                <a:cs typeface="Calibri" pitchFamily="34" charset="-120"/>
              </a:rPr>
              <a:t>Sửa lỗi ngoại suy thẳng 20 phút vốn ghim mọi vật thể đang trôi vào mép khung hình.</a:t>
            </a:r>
            <a:endParaRPr lang="en-US" sz="1200" dirty="0"/>
          </a:p>
        </p:txBody>
      </p:sp>
      <p:sp>
        <p:nvSpPr>
          <p:cNvPr id="13" name="Text 9"/>
          <p:cNvSpPr txBox="1"/>
          <p:nvPr/>
        </p:nvSpPr>
        <p:spPr>
          <a:xfrm>
            <a:off x="548640" y="6144768"/>
            <a:ext cx="9082735" cy="274320"/>
          </a:xfrm>
          <a:prstGeom prst="rect">
            <a:avLst/>
          </a:prstGeom>
          <a:noFill/>
          <a:ln/>
        </p:spPr>
        <p:txBody>
          <a:bodyPr wrap="square" lIns="0" tIns="0" rIns="0" bIns="0" rtlCol="0" anchor="t"/>
          <a:lstStyle/>
          <a:p>
            <a:pPr algn="l" indent="0" marL="0">
              <a:lnSpc>
                <a:spcPct val="100000"/>
              </a:lnSpc>
              <a:buNone/>
            </a:pPr>
            <a:r>
              <a:rPr lang="en-US" sz="1050" i="1" dirty="0">
                <a:solidFill>
                  <a:srgbClr val="5E7194"/>
                </a:solidFill>
                <a:latin typeface="Calibri" pitchFamily="34" charset="0"/>
                <a:ea typeface="Calibri" pitchFamily="34" charset="-122"/>
                <a:cs typeface="Calibri" pitchFamily="34" charset="-120"/>
              </a:rPr>
              <a:t>Cùng một bộ detection (5 video, 1.420 frame), chạy lại offline bằng scripts/ablation_offline.py. Chỉ số proxy không cần nhãn; IDF1/MOTA cần nhãn ID.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F59E0B"/>
                </a:solidFill>
                <a:latin typeface="Arial" pitchFamily="34" charset="0"/>
                <a:ea typeface="Arial" pitchFamily="34" charset="-122"/>
                <a:cs typeface="Arial" pitchFamily="34" charset="-120"/>
              </a:rPr>
              <a:t>08 · ĐÁNH GIÁ TRUNG THỰC</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Điều chúng tôi chưa đạt được</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9/12</a:t>
            </a:r>
            <a:endParaRPr lang="en-US" sz="1000" dirty="0"/>
          </a:p>
        </p:txBody>
      </p:sp>
      <p:sp>
        <p:nvSpPr>
          <p:cNvPr id="5" name="Shape 3"/>
          <p:cNvSpPr/>
          <p:nvPr/>
        </p:nvSpPr>
        <p:spPr>
          <a:xfrm>
            <a:off x="512064" y="1609344"/>
            <a:ext cx="2514407" cy="4416552"/>
          </a:xfrm>
          <a:prstGeom prst="rect">
            <a:avLst/>
          </a:prstGeom>
          <a:solidFill>
            <a:srgbClr val="22395E"/>
          </a:solidFill>
          <a:ln w="12700">
            <a:solidFill>
              <a:srgbClr val="22395E"/>
            </a:solidFill>
            <a:prstDash val="solid"/>
          </a:ln>
        </p:spPr>
      </p:sp>
      <p:pic>
        <p:nvPicPr>
          <p:cNvPr id="6" name="Image 0" descr="C:/Temp/claude/deck/img/annot.jpg">    </p:cNvPr>
          <p:cNvPicPr>
            <a:picLocks noChangeAspect="1"/>
          </p:cNvPicPr>
          <p:nvPr/>
        </p:nvPicPr>
        <p:blipFill>
          <a:blip r:embed="rId1"/>
          <a:stretch>
            <a:fillRect/>
          </a:stretch>
        </p:blipFill>
        <p:spPr>
          <a:xfrm>
            <a:off x="548640" y="1645920"/>
            <a:ext cx="2441255" cy="4343400"/>
          </a:xfrm>
          <a:prstGeom prst="rect">
            <a:avLst/>
          </a:prstGeom>
        </p:spPr>
      </p:pic>
      <p:sp>
        <p:nvSpPr>
          <p:cNvPr id="7" name="Text 4"/>
          <p:cNvSpPr txBox="1"/>
          <p:nvPr/>
        </p:nvSpPr>
        <p:spPr>
          <a:xfrm>
            <a:off x="548640" y="6099048"/>
            <a:ext cx="2807015" cy="457200"/>
          </a:xfrm>
          <a:prstGeom prst="rect">
            <a:avLst/>
          </a:prstGeom>
          <a:noFill/>
          <a:ln/>
        </p:spPr>
        <p:txBody>
          <a:bodyPr wrap="square" lIns="0" tIns="0" rIns="0" bIns="0" rtlCol="0" anchor="t"/>
          <a:lstStyle/>
          <a:p>
            <a:pPr algn="l" indent="0" marL="0">
              <a:lnSpc>
                <a:spcPct val="100000"/>
              </a:lnSpc>
              <a:buNone/>
            </a:pPr>
            <a:r>
              <a:rPr lang="en-US" sz="1100" i="1" dirty="0">
                <a:solidFill>
                  <a:srgbClr val="5E7194"/>
                </a:solidFill>
                <a:latin typeface="Calibri" pitchFamily="34" charset="0"/>
                <a:ea typeface="Calibri" pitchFamily="34" charset="-122"/>
                <a:cs typeface="Calibri" pitchFamily="34" charset="-120"/>
              </a:rPr>
              <a:t>Kênh đầy rác, nhưng detector</a:t>
            </a:r>
            <a:endParaRPr lang="en-US" sz="1100" dirty="0"/>
          </a:p>
          <a:p>
            <a:pPr algn="l" indent="0" marL="0">
              <a:lnSpc>
                <a:spcPct val="100000"/>
              </a:lnSpc>
              <a:buNone/>
            </a:pPr>
            <a:r>
              <a:rPr lang="en-US" sz="1100" i="1" dirty="0">
                <a:solidFill>
                  <a:srgbClr val="5E7194"/>
                </a:solidFill>
                <a:latin typeface="Calibri" pitchFamily="34" charset="0"/>
                <a:ea typeface="Calibri" pitchFamily="34" charset="-122"/>
                <a:cs typeface="Calibri" pitchFamily="34" charset="-120"/>
              </a:rPr>
              <a:t>zero-shot chỉ bắt được vài mảnh.</a:t>
            </a:r>
            <a:endParaRPr lang="en-US" sz="1100" dirty="0"/>
          </a:p>
        </p:txBody>
      </p:sp>
      <p:sp>
        <p:nvSpPr>
          <p:cNvPr id="8" name="Shape 5"/>
          <p:cNvSpPr/>
          <p:nvPr/>
        </p:nvSpPr>
        <p:spPr>
          <a:xfrm>
            <a:off x="3538535" y="1691640"/>
            <a:ext cx="530352" cy="530352"/>
          </a:xfrm>
          <a:prstGeom prst="ellipse">
            <a:avLst/>
          </a:prstGeom>
          <a:solidFill>
            <a:srgbClr val="F59E0B">
              <a:alpha val="18000"/>
            </a:srgbClr>
          </a:solidFill>
          <a:ln w="12700">
            <a:solidFill>
              <a:srgbClr val="F59E0B">
                <a:alpha val="60000"/>
              </a:srgbClr>
            </a:solidFill>
            <a:prstDash val="solid"/>
          </a:ln>
        </p:spPr>
      </p:sp>
      <p:pic>
        <p:nvPicPr>
          <p:cNvPr id="9" name="Image 1" descr="preencoded.png">    </p:cNvPr>
          <p:cNvPicPr>
            <a:picLocks noChangeAspect="1"/>
          </p:cNvPicPr>
          <p:nvPr/>
        </p:nvPicPr>
        <p:blipFill>
          <a:blip r:embed="rId2"/>
          <a:stretch>
            <a:fillRect/>
          </a:stretch>
        </p:blipFill>
        <p:spPr>
          <a:xfrm>
            <a:off x="3676427" y="1829532"/>
            <a:ext cx="254569" cy="254569"/>
          </a:xfrm>
          <a:prstGeom prst="rect">
            <a:avLst/>
          </a:prstGeom>
        </p:spPr>
      </p:pic>
      <p:sp>
        <p:nvSpPr>
          <p:cNvPr id="10" name="Text 6"/>
          <p:cNvSpPr txBox="1"/>
          <p:nvPr/>
        </p:nvSpPr>
        <p:spPr>
          <a:xfrm>
            <a:off x="4270055" y="1673352"/>
            <a:ext cx="7373000" cy="347472"/>
          </a:xfrm>
          <a:prstGeom prst="rect">
            <a:avLst/>
          </a:prstGeom>
          <a:noFill/>
          <a:ln/>
        </p:spPr>
        <p:txBody>
          <a:bodyPr wrap="square" lIns="0" tIns="0" rIns="0" bIns="0" rtlCol="0" anchor="t"/>
          <a:lstStyle/>
          <a:p>
            <a:pPr algn="l" indent="0" marL="0">
              <a:lnSpc>
                <a:spcPct val="100000"/>
              </a:lnSpc>
              <a:buNone/>
            </a:pPr>
            <a:r>
              <a:rPr lang="en-US" sz="1700" b="1" dirty="0">
                <a:solidFill>
                  <a:srgbClr val="E8EEF8"/>
                </a:solidFill>
                <a:latin typeface="Arial" pitchFamily="34" charset="0"/>
                <a:ea typeface="Arial" pitchFamily="34" charset="-122"/>
                <a:cs typeface="Arial" pitchFamily="34" charset="-120"/>
              </a:rPr>
              <a:t>Detector zero-shot còn yếu</a:t>
            </a:r>
            <a:endParaRPr lang="en-US" sz="1700" dirty="0"/>
          </a:p>
        </p:txBody>
      </p:sp>
      <p:sp>
        <p:nvSpPr>
          <p:cNvPr id="11" name="Text 7"/>
          <p:cNvSpPr txBox="1"/>
          <p:nvPr/>
        </p:nvSpPr>
        <p:spPr>
          <a:xfrm>
            <a:off x="4270055" y="2039112"/>
            <a:ext cx="7373000" cy="73152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Điểm tin cậy TB 0,03–0,06, bỏ sót nhiều mảnh nhỏ → mọi hotspot đang ở mức MEDIUM (56–70%); hệ thống không phát HIGH khi bằng chứng yếu.</a:t>
            </a:r>
            <a:endParaRPr lang="en-US" sz="1350" dirty="0"/>
          </a:p>
        </p:txBody>
      </p:sp>
      <p:sp>
        <p:nvSpPr>
          <p:cNvPr id="12" name="Shape 8"/>
          <p:cNvSpPr/>
          <p:nvPr/>
        </p:nvSpPr>
        <p:spPr>
          <a:xfrm>
            <a:off x="3538535" y="2862072"/>
            <a:ext cx="530352" cy="530352"/>
          </a:xfrm>
          <a:prstGeom prst="ellipse">
            <a:avLst/>
          </a:prstGeom>
          <a:solidFill>
            <a:srgbClr val="F59E0B">
              <a:alpha val="18000"/>
            </a:srgbClr>
          </a:solidFill>
          <a:ln w="12700">
            <a:solidFill>
              <a:srgbClr val="F59E0B">
                <a:alpha val="60000"/>
              </a:srgbClr>
            </a:solidFill>
            <a:prstDash val="solid"/>
          </a:ln>
        </p:spPr>
      </p:sp>
      <p:pic>
        <p:nvPicPr>
          <p:cNvPr id="13" name="Image 2" descr="preencoded.png">    </p:cNvPr>
          <p:cNvPicPr>
            <a:picLocks noChangeAspect="1"/>
          </p:cNvPicPr>
          <p:nvPr/>
        </p:nvPicPr>
        <p:blipFill>
          <a:blip r:embed="rId3"/>
          <a:stretch>
            <a:fillRect/>
          </a:stretch>
        </p:blipFill>
        <p:spPr>
          <a:xfrm>
            <a:off x="3676427" y="2999964"/>
            <a:ext cx="254569" cy="254569"/>
          </a:xfrm>
          <a:prstGeom prst="rect">
            <a:avLst/>
          </a:prstGeom>
        </p:spPr>
      </p:pic>
      <p:sp>
        <p:nvSpPr>
          <p:cNvPr id="14" name="Text 9"/>
          <p:cNvSpPr txBox="1"/>
          <p:nvPr/>
        </p:nvSpPr>
        <p:spPr>
          <a:xfrm>
            <a:off x="4270055" y="2843784"/>
            <a:ext cx="7373000" cy="347472"/>
          </a:xfrm>
          <a:prstGeom prst="rect">
            <a:avLst/>
          </a:prstGeom>
          <a:noFill/>
          <a:ln/>
        </p:spPr>
        <p:txBody>
          <a:bodyPr wrap="square" lIns="0" tIns="0" rIns="0" bIns="0" rtlCol="0" anchor="t"/>
          <a:lstStyle/>
          <a:p>
            <a:pPr algn="l" indent="0" marL="0">
              <a:lnSpc>
                <a:spcPct val="100000"/>
              </a:lnSpc>
              <a:buNone/>
            </a:pPr>
            <a:r>
              <a:rPr lang="en-US" sz="1700" b="1" dirty="0">
                <a:solidFill>
                  <a:srgbClr val="E8EEF8"/>
                </a:solidFill>
                <a:latin typeface="Arial" pitchFamily="34" charset="0"/>
                <a:ea typeface="Arial" pitchFamily="34" charset="-122"/>
                <a:cs typeface="Arial" pitchFamily="34" charset="-120"/>
              </a:rPr>
              <a:t>Chưa có tập test gán nhãn</a:t>
            </a:r>
            <a:endParaRPr lang="en-US" sz="1700" dirty="0"/>
          </a:p>
        </p:txBody>
      </p:sp>
      <p:sp>
        <p:nvSpPr>
          <p:cNvPr id="15" name="Text 10"/>
          <p:cNvSpPr txBox="1"/>
          <p:nvPr/>
        </p:nvSpPr>
        <p:spPr>
          <a:xfrm>
            <a:off x="4270055" y="3209544"/>
            <a:ext cx="7373000" cy="73152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Chưa công bố mAP, IDF1, precision/recall điểm nóng — sẽ đo trên RiSID chia theo nhóm video.</a:t>
            </a:r>
            <a:endParaRPr lang="en-US" sz="1350" dirty="0"/>
          </a:p>
        </p:txBody>
      </p:sp>
      <p:sp>
        <p:nvSpPr>
          <p:cNvPr id="16" name="Shape 11"/>
          <p:cNvSpPr/>
          <p:nvPr/>
        </p:nvSpPr>
        <p:spPr>
          <a:xfrm>
            <a:off x="3538535" y="4032504"/>
            <a:ext cx="530352" cy="530352"/>
          </a:xfrm>
          <a:prstGeom prst="ellipse">
            <a:avLst/>
          </a:prstGeom>
          <a:solidFill>
            <a:srgbClr val="F59E0B">
              <a:alpha val="18000"/>
            </a:srgbClr>
          </a:solidFill>
          <a:ln w="12700">
            <a:solidFill>
              <a:srgbClr val="F59E0B">
                <a:alpha val="60000"/>
              </a:srgbClr>
            </a:solidFill>
            <a:prstDash val="solid"/>
          </a:ln>
        </p:spPr>
      </p:sp>
      <p:pic>
        <p:nvPicPr>
          <p:cNvPr id="17" name="Image 3" descr="preencoded.png">    </p:cNvPr>
          <p:cNvPicPr>
            <a:picLocks noChangeAspect="1"/>
          </p:cNvPicPr>
          <p:nvPr/>
        </p:nvPicPr>
        <p:blipFill>
          <a:blip r:embed="rId4"/>
          <a:stretch>
            <a:fillRect/>
          </a:stretch>
        </p:blipFill>
        <p:spPr>
          <a:xfrm>
            <a:off x="3676427" y="4170396"/>
            <a:ext cx="254569" cy="254569"/>
          </a:xfrm>
          <a:prstGeom prst="rect">
            <a:avLst/>
          </a:prstGeom>
        </p:spPr>
      </p:pic>
      <p:sp>
        <p:nvSpPr>
          <p:cNvPr id="18" name="Text 12"/>
          <p:cNvSpPr txBox="1"/>
          <p:nvPr/>
        </p:nvSpPr>
        <p:spPr>
          <a:xfrm>
            <a:off x="4270055" y="4014216"/>
            <a:ext cx="7373000" cy="347472"/>
          </a:xfrm>
          <a:prstGeom prst="rect">
            <a:avLst/>
          </a:prstGeom>
          <a:noFill/>
          <a:ln/>
        </p:spPr>
        <p:txBody>
          <a:bodyPr wrap="square" lIns="0" tIns="0" rIns="0" bIns="0" rtlCol="0" anchor="t"/>
          <a:lstStyle/>
          <a:p>
            <a:pPr algn="l" indent="0" marL="0">
              <a:lnSpc>
                <a:spcPct val="100000"/>
              </a:lnSpc>
              <a:buNone/>
            </a:pPr>
            <a:r>
              <a:rPr lang="en-US" sz="1700" b="1" dirty="0">
                <a:solidFill>
                  <a:srgbClr val="E8EEF8"/>
                </a:solidFill>
                <a:latin typeface="Arial" pitchFamily="34" charset="0"/>
                <a:ea typeface="Arial" pitchFamily="34" charset="-122"/>
                <a:cs typeface="Arial" pitchFamily="34" charset="-120"/>
              </a:rPr>
              <a:t>Chưa đạt thời gian thực</a:t>
            </a:r>
            <a:endParaRPr lang="en-US" sz="1700" dirty="0"/>
          </a:p>
        </p:txBody>
      </p:sp>
      <p:sp>
        <p:nvSpPr>
          <p:cNvPr id="19" name="Text 13"/>
          <p:cNvSpPr txBox="1"/>
          <p:nvPr/>
        </p:nvSpPr>
        <p:spPr>
          <a:xfrm>
            <a:off x="4270055" y="4379976"/>
            <a:ext cx="7373000" cy="73152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2,2–2,4 khung hình/giây trên GTX 1650 (YOLO-World-S, ảnh 1280 px).</a:t>
            </a:r>
            <a:endParaRPr lang="en-US" sz="1350" dirty="0"/>
          </a:p>
        </p:txBody>
      </p:sp>
      <p:sp>
        <p:nvSpPr>
          <p:cNvPr id="20" name="Shape 14"/>
          <p:cNvSpPr/>
          <p:nvPr/>
        </p:nvSpPr>
        <p:spPr>
          <a:xfrm>
            <a:off x="3538535" y="5202936"/>
            <a:ext cx="530352" cy="530352"/>
          </a:xfrm>
          <a:prstGeom prst="ellipse">
            <a:avLst/>
          </a:prstGeom>
          <a:solidFill>
            <a:srgbClr val="F59E0B">
              <a:alpha val="18000"/>
            </a:srgbClr>
          </a:solidFill>
          <a:ln w="12700">
            <a:solidFill>
              <a:srgbClr val="F59E0B">
                <a:alpha val="60000"/>
              </a:srgbClr>
            </a:solidFill>
            <a:prstDash val="solid"/>
          </a:ln>
        </p:spPr>
      </p:sp>
      <p:pic>
        <p:nvPicPr>
          <p:cNvPr id="21" name="Image 4" descr="preencoded.png">    </p:cNvPr>
          <p:cNvPicPr>
            <a:picLocks noChangeAspect="1"/>
          </p:cNvPicPr>
          <p:nvPr/>
        </p:nvPicPr>
        <p:blipFill>
          <a:blip r:embed="rId5"/>
          <a:stretch>
            <a:fillRect/>
          </a:stretch>
        </p:blipFill>
        <p:spPr>
          <a:xfrm>
            <a:off x="3676427" y="5340828"/>
            <a:ext cx="254569" cy="254569"/>
          </a:xfrm>
          <a:prstGeom prst="rect">
            <a:avLst/>
          </a:prstGeom>
        </p:spPr>
      </p:pic>
      <p:sp>
        <p:nvSpPr>
          <p:cNvPr id="22" name="Text 15"/>
          <p:cNvSpPr txBox="1"/>
          <p:nvPr/>
        </p:nvSpPr>
        <p:spPr>
          <a:xfrm>
            <a:off x="4270055" y="5184648"/>
            <a:ext cx="7373000" cy="347472"/>
          </a:xfrm>
          <a:prstGeom prst="rect">
            <a:avLst/>
          </a:prstGeom>
          <a:noFill/>
          <a:ln/>
        </p:spPr>
        <p:txBody>
          <a:bodyPr wrap="square" lIns="0" tIns="0" rIns="0" bIns="0" rtlCol="0" anchor="t"/>
          <a:lstStyle/>
          <a:p>
            <a:pPr algn="l" indent="0" marL="0">
              <a:lnSpc>
                <a:spcPct val="100000"/>
              </a:lnSpc>
              <a:buNone/>
            </a:pPr>
            <a:r>
              <a:rPr lang="en-US" sz="1700" b="1" dirty="0">
                <a:solidFill>
                  <a:srgbClr val="E8EEF8"/>
                </a:solidFill>
                <a:latin typeface="Arial" pitchFamily="34" charset="0"/>
                <a:ea typeface="Arial" pitchFamily="34" charset="-122"/>
                <a:cs typeface="Arial" pitchFamily="34" charset="-120"/>
              </a:rPr>
              <a:t>Video quay cầm tay</a:t>
            </a:r>
            <a:endParaRPr lang="en-US" sz="1700" dirty="0"/>
          </a:p>
        </p:txBody>
      </p:sp>
      <p:sp>
        <p:nvSpPr>
          <p:cNvPr id="23" name="Text 16"/>
          <p:cNvSpPr txBox="1"/>
          <p:nvPr/>
        </p:nvSpPr>
        <p:spPr>
          <a:xfrm>
            <a:off x="4270055" y="5550408"/>
            <a:ext cx="7373000" cy="731520"/>
          </a:xfrm>
          <a:prstGeom prst="rect">
            <a:avLst/>
          </a:prstGeom>
          <a:noFill/>
          <a:ln/>
        </p:spPr>
        <p:txBody>
          <a:bodyPr wrap="square" lIns="0" tIns="0" rIns="0" bIns="0" rtlCol="0" anchor="t"/>
          <a:lstStyle/>
          <a:p>
            <a:pPr algn="l" indent="0" marL="0">
              <a:lnSpc>
                <a:spcPct val="105000"/>
              </a:lnSpc>
              <a:buNone/>
            </a:pPr>
            <a:r>
              <a:rPr lang="en-US" sz="1350" dirty="0">
                <a:solidFill>
                  <a:srgbClr val="93A6C6"/>
                </a:solidFill>
                <a:latin typeface="Calibri" pitchFamily="34" charset="0"/>
                <a:ea typeface="Calibri" pitchFamily="34" charset="-122"/>
                <a:cs typeface="Calibri" pitchFamily="34" charset="-120"/>
              </a:rPr>
              <a:t>Camera lia làm nhiễu chuyển động; hướng dòng tính theo khung hình, chưa quy đổi ra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DD4BF"/>
                </a:solidFill>
                <a:latin typeface="Arial" pitchFamily="34" charset="0"/>
                <a:ea typeface="Arial" pitchFamily="34" charset="-122"/>
                <a:cs typeface="Arial" pitchFamily="34" charset="-120"/>
              </a:rPr>
              <a:t>09 · GIÁ TRỊ THỰC TIỄN</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Ai dùng, và dùng để làm gì?</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10/12</a:t>
            </a:r>
            <a:endParaRPr lang="en-US" sz="1000" dirty="0"/>
          </a:p>
        </p:txBody>
      </p:sp>
      <p:sp>
        <p:nvSpPr>
          <p:cNvPr id="5" name="Shape 3"/>
          <p:cNvSpPr/>
          <p:nvPr/>
        </p:nvSpPr>
        <p:spPr>
          <a:xfrm>
            <a:off x="548640" y="1691640"/>
            <a:ext cx="3383280" cy="1097280"/>
          </a:xfrm>
          <a:prstGeom prst="roundRect">
            <a:avLst>
              <a:gd name="adj" fmla="val 8333"/>
            </a:avLst>
          </a:prstGeom>
          <a:solidFill>
            <a:srgbClr val="172B4A"/>
          </a:solidFill>
          <a:ln w="9525">
            <a:solidFill>
              <a:srgbClr val="22395E"/>
            </a:solidFill>
            <a:prstDash val="solid"/>
          </a:ln>
        </p:spPr>
      </p:sp>
      <p:sp>
        <p:nvSpPr>
          <p:cNvPr id="6" name="Shape 4"/>
          <p:cNvSpPr/>
          <p:nvPr/>
        </p:nvSpPr>
        <p:spPr>
          <a:xfrm>
            <a:off x="777240" y="1938528"/>
            <a:ext cx="585216" cy="585216"/>
          </a:xfrm>
          <a:prstGeom prst="ellipse">
            <a:avLst/>
          </a:prstGeom>
          <a:solidFill>
            <a:srgbClr val="2DD4BF">
              <a:alpha val="18000"/>
            </a:srgbClr>
          </a:solidFill>
          <a:ln w="12700">
            <a:solidFill>
              <a:srgbClr val="2DD4BF">
                <a:alpha val="60000"/>
              </a:srgbClr>
            </a:solidFill>
            <a:prstDash val="solid"/>
          </a:ln>
        </p:spPr>
      </p:sp>
      <p:pic>
        <p:nvPicPr>
          <p:cNvPr id="7" name="Image 0" descr="preencoded.png">    </p:cNvPr>
          <p:cNvPicPr>
            <a:picLocks noChangeAspect="1"/>
          </p:cNvPicPr>
          <p:nvPr/>
        </p:nvPicPr>
        <p:blipFill>
          <a:blip r:embed="rId1"/>
          <a:stretch>
            <a:fillRect/>
          </a:stretch>
        </p:blipFill>
        <p:spPr>
          <a:xfrm>
            <a:off x="929396" y="2090684"/>
            <a:ext cx="280904" cy="280904"/>
          </a:xfrm>
          <a:prstGeom prst="rect">
            <a:avLst/>
          </a:prstGeom>
        </p:spPr>
      </p:pic>
      <p:sp>
        <p:nvSpPr>
          <p:cNvPr id="8" name="Text 5"/>
          <p:cNvSpPr txBox="1"/>
          <p:nvPr/>
        </p:nvSpPr>
        <p:spPr>
          <a:xfrm>
            <a:off x="1508760" y="1828800"/>
            <a:ext cx="2240280" cy="822960"/>
          </a:xfrm>
          <a:prstGeom prst="rect">
            <a:avLst/>
          </a:prstGeom>
          <a:noFill/>
          <a:ln/>
        </p:spPr>
        <p:txBody>
          <a:bodyPr wrap="square" lIns="0" tIns="0" rIns="0" bIns="0" rtlCol="0" anchor="ctr"/>
          <a:lstStyle/>
          <a:p>
            <a:pPr algn="l" indent="0" marL="0">
              <a:lnSpc>
                <a:spcPct val="100000"/>
              </a:lnSpc>
              <a:buNone/>
            </a:pPr>
            <a:r>
              <a:rPr lang="en-US" sz="1400" b="1" dirty="0">
                <a:solidFill>
                  <a:srgbClr val="E8EEF8"/>
                </a:solidFill>
                <a:latin typeface="Calibri" pitchFamily="34" charset="0"/>
                <a:ea typeface="Calibri" pitchFamily="34" charset="-122"/>
                <a:cs typeface="Calibri" pitchFamily="34" charset="-120"/>
              </a:rPr>
              <a:t>Camera trên cầu phát hiện và theo dõi rác</a:t>
            </a:r>
            <a:endParaRPr lang="en-US" sz="1400" dirty="0"/>
          </a:p>
        </p:txBody>
      </p:sp>
      <p:sp>
        <p:nvSpPr>
          <p:cNvPr id="9" name="Shape 6"/>
          <p:cNvSpPr/>
          <p:nvPr/>
        </p:nvSpPr>
        <p:spPr>
          <a:xfrm>
            <a:off x="3995928" y="2240280"/>
            <a:ext cx="347472" cy="0"/>
          </a:xfrm>
          <a:prstGeom prst="line">
            <a:avLst/>
          </a:prstGeom>
          <a:noFill/>
          <a:ln w="22225">
            <a:solidFill>
              <a:srgbClr val="93A6C6"/>
            </a:solidFill>
            <a:prstDash val="solid"/>
            <a:tailEnd type="triangle"/>
          </a:ln>
        </p:spPr>
      </p:sp>
      <p:sp>
        <p:nvSpPr>
          <p:cNvPr id="10" name="Shape 7"/>
          <p:cNvSpPr/>
          <p:nvPr/>
        </p:nvSpPr>
        <p:spPr>
          <a:xfrm>
            <a:off x="4407408" y="1691640"/>
            <a:ext cx="3383280" cy="1097280"/>
          </a:xfrm>
          <a:prstGeom prst="roundRect">
            <a:avLst>
              <a:gd name="adj" fmla="val 8333"/>
            </a:avLst>
          </a:prstGeom>
          <a:solidFill>
            <a:srgbClr val="172B4A"/>
          </a:solidFill>
          <a:ln w="9525">
            <a:solidFill>
              <a:srgbClr val="22395E"/>
            </a:solidFill>
            <a:prstDash val="solid"/>
          </a:ln>
        </p:spPr>
      </p:sp>
      <p:sp>
        <p:nvSpPr>
          <p:cNvPr id="11" name="Shape 8"/>
          <p:cNvSpPr/>
          <p:nvPr/>
        </p:nvSpPr>
        <p:spPr>
          <a:xfrm>
            <a:off x="4636008" y="1938528"/>
            <a:ext cx="585216" cy="585216"/>
          </a:xfrm>
          <a:prstGeom prst="ellipse">
            <a:avLst/>
          </a:prstGeom>
          <a:solidFill>
            <a:srgbClr val="EF4444">
              <a:alpha val="18000"/>
            </a:srgbClr>
          </a:solidFill>
          <a:ln w="12700">
            <a:solidFill>
              <a:srgbClr val="EF4444">
                <a:alpha val="60000"/>
              </a:srgbClr>
            </a:solidFill>
            <a:prstDash val="solid"/>
          </a:ln>
        </p:spPr>
      </p:sp>
      <p:pic>
        <p:nvPicPr>
          <p:cNvPr id="12" name="Image 1" descr="preencoded.png">    </p:cNvPr>
          <p:cNvPicPr>
            <a:picLocks noChangeAspect="1"/>
          </p:cNvPicPr>
          <p:nvPr/>
        </p:nvPicPr>
        <p:blipFill>
          <a:blip r:embed="rId2"/>
          <a:stretch>
            <a:fillRect/>
          </a:stretch>
        </p:blipFill>
        <p:spPr>
          <a:xfrm>
            <a:off x="4788164" y="2090684"/>
            <a:ext cx="280904" cy="280904"/>
          </a:xfrm>
          <a:prstGeom prst="rect">
            <a:avLst/>
          </a:prstGeom>
        </p:spPr>
      </p:pic>
      <p:sp>
        <p:nvSpPr>
          <p:cNvPr id="13" name="Text 9"/>
          <p:cNvSpPr txBox="1"/>
          <p:nvPr/>
        </p:nvSpPr>
        <p:spPr>
          <a:xfrm>
            <a:off x="5367528" y="1828800"/>
            <a:ext cx="2240280" cy="822960"/>
          </a:xfrm>
          <a:prstGeom prst="rect">
            <a:avLst/>
          </a:prstGeom>
          <a:noFill/>
          <a:ln/>
        </p:spPr>
        <p:txBody>
          <a:bodyPr wrap="square" lIns="0" tIns="0" rIns="0" bIns="0" rtlCol="0" anchor="ctr"/>
          <a:lstStyle/>
          <a:p>
            <a:pPr algn="l" indent="0" marL="0">
              <a:lnSpc>
                <a:spcPct val="100000"/>
              </a:lnSpc>
              <a:buNone/>
            </a:pPr>
            <a:r>
              <a:rPr lang="en-US" sz="1400" b="1" dirty="0">
                <a:solidFill>
                  <a:srgbClr val="E8EEF8"/>
                </a:solidFill>
                <a:latin typeface="Calibri" pitchFamily="34" charset="0"/>
                <a:ea typeface="Calibri" pitchFamily="34" charset="-122"/>
                <a:cs typeface="Calibri" pitchFamily="34" charset="-120"/>
              </a:rPr>
              <a:t>Dashboard: “Vùng B — nguy cơ tích tụ trong 20 phút tới”</a:t>
            </a:r>
            <a:endParaRPr lang="en-US" sz="1400" dirty="0"/>
          </a:p>
        </p:txBody>
      </p:sp>
      <p:sp>
        <p:nvSpPr>
          <p:cNvPr id="14" name="Shape 10"/>
          <p:cNvSpPr/>
          <p:nvPr/>
        </p:nvSpPr>
        <p:spPr>
          <a:xfrm>
            <a:off x="7854696" y="2240280"/>
            <a:ext cx="347472" cy="0"/>
          </a:xfrm>
          <a:prstGeom prst="line">
            <a:avLst/>
          </a:prstGeom>
          <a:noFill/>
          <a:ln w="22225">
            <a:solidFill>
              <a:srgbClr val="93A6C6"/>
            </a:solidFill>
            <a:prstDash val="solid"/>
            <a:tailEnd type="triangle"/>
          </a:ln>
        </p:spPr>
      </p:sp>
      <p:sp>
        <p:nvSpPr>
          <p:cNvPr id="15" name="Shape 11"/>
          <p:cNvSpPr/>
          <p:nvPr/>
        </p:nvSpPr>
        <p:spPr>
          <a:xfrm>
            <a:off x="8266176" y="1691640"/>
            <a:ext cx="3383280" cy="1097280"/>
          </a:xfrm>
          <a:prstGeom prst="roundRect">
            <a:avLst>
              <a:gd name="adj" fmla="val 8333"/>
            </a:avLst>
          </a:prstGeom>
          <a:solidFill>
            <a:srgbClr val="172B4A"/>
          </a:solidFill>
          <a:ln w="9525">
            <a:solidFill>
              <a:srgbClr val="22395E"/>
            </a:solidFill>
            <a:prstDash val="solid"/>
          </a:ln>
        </p:spPr>
      </p:sp>
      <p:sp>
        <p:nvSpPr>
          <p:cNvPr id="16" name="Shape 12"/>
          <p:cNvSpPr/>
          <p:nvPr/>
        </p:nvSpPr>
        <p:spPr>
          <a:xfrm>
            <a:off x="8494776" y="1938528"/>
            <a:ext cx="585216" cy="585216"/>
          </a:xfrm>
          <a:prstGeom prst="ellipse">
            <a:avLst/>
          </a:prstGeom>
          <a:solidFill>
            <a:srgbClr val="2DD4BF">
              <a:alpha val="18000"/>
            </a:srgbClr>
          </a:solidFill>
          <a:ln w="12700">
            <a:solidFill>
              <a:srgbClr val="2DD4BF">
                <a:alpha val="60000"/>
              </a:srgbClr>
            </a:solidFill>
            <a:prstDash val="solid"/>
          </a:ln>
        </p:spPr>
      </p:sp>
      <p:pic>
        <p:nvPicPr>
          <p:cNvPr id="17" name="Image 2" descr="preencoded.png">    </p:cNvPr>
          <p:cNvPicPr>
            <a:picLocks noChangeAspect="1"/>
          </p:cNvPicPr>
          <p:nvPr/>
        </p:nvPicPr>
        <p:blipFill>
          <a:blip r:embed="rId3"/>
          <a:stretch>
            <a:fillRect/>
          </a:stretch>
        </p:blipFill>
        <p:spPr>
          <a:xfrm>
            <a:off x="8646932" y="2090684"/>
            <a:ext cx="280904" cy="280904"/>
          </a:xfrm>
          <a:prstGeom prst="rect">
            <a:avLst/>
          </a:prstGeom>
        </p:spPr>
      </p:pic>
      <p:sp>
        <p:nvSpPr>
          <p:cNvPr id="18" name="Text 13"/>
          <p:cNvSpPr txBox="1"/>
          <p:nvPr/>
        </p:nvSpPr>
        <p:spPr>
          <a:xfrm>
            <a:off x="9226296" y="1828800"/>
            <a:ext cx="2240280" cy="822960"/>
          </a:xfrm>
          <a:prstGeom prst="rect">
            <a:avLst/>
          </a:prstGeom>
          <a:noFill/>
          <a:ln/>
        </p:spPr>
        <p:txBody>
          <a:bodyPr wrap="square" lIns="0" tIns="0" rIns="0" bIns="0" rtlCol="0" anchor="ctr"/>
          <a:lstStyle/>
          <a:p>
            <a:pPr algn="l" indent="0" marL="0">
              <a:lnSpc>
                <a:spcPct val="100000"/>
              </a:lnSpc>
              <a:buNone/>
            </a:pPr>
            <a:r>
              <a:rPr lang="en-US" sz="1400" b="1" dirty="0">
                <a:solidFill>
                  <a:srgbClr val="E8EEF8"/>
                </a:solidFill>
                <a:latin typeface="Calibri" pitchFamily="34" charset="0"/>
                <a:ea typeface="Calibri" pitchFamily="34" charset="-122"/>
                <a:cs typeface="Calibri" pitchFamily="34" charset="-120"/>
              </a:rPr>
              <a:t>Đội thu gom điều phối trước khi cụm rác hình thành</a:t>
            </a:r>
            <a:endParaRPr lang="en-US" sz="1400" dirty="0"/>
          </a:p>
        </p:txBody>
      </p:sp>
      <p:sp>
        <p:nvSpPr>
          <p:cNvPr id="19" name="Shape 14"/>
          <p:cNvSpPr/>
          <p:nvPr/>
        </p:nvSpPr>
        <p:spPr>
          <a:xfrm>
            <a:off x="548640" y="3063240"/>
            <a:ext cx="3383280" cy="2011680"/>
          </a:xfrm>
          <a:prstGeom prst="roundRect">
            <a:avLst>
              <a:gd name="adj" fmla="val 4545"/>
            </a:avLst>
          </a:prstGeom>
          <a:solidFill>
            <a:srgbClr val="12233D"/>
          </a:solidFill>
          <a:ln w="9525">
            <a:solidFill>
              <a:srgbClr val="22395E"/>
            </a:solidFill>
            <a:prstDash val="solid"/>
          </a:ln>
        </p:spPr>
      </p:sp>
      <p:sp>
        <p:nvSpPr>
          <p:cNvPr id="20" name="Shape 15"/>
          <p:cNvSpPr/>
          <p:nvPr/>
        </p:nvSpPr>
        <p:spPr>
          <a:xfrm>
            <a:off x="822960" y="3291840"/>
            <a:ext cx="640080" cy="640080"/>
          </a:xfrm>
          <a:prstGeom prst="ellipse">
            <a:avLst/>
          </a:prstGeom>
          <a:solidFill>
            <a:srgbClr val="22D3EE">
              <a:alpha val="18000"/>
            </a:srgbClr>
          </a:solidFill>
          <a:ln w="12700">
            <a:solidFill>
              <a:srgbClr val="22D3EE">
                <a:alpha val="60000"/>
              </a:srgbClr>
            </a:solidFill>
            <a:prstDash val="solid"/>
          </a:ln>
        </p:spPr>
      </p:sp>
      <p:pic>
        <p:nvPicPr>
          <p:cNvPr id="21" name="Image 3" descr="preencoded.png">    </p:cNvPr>
          <p:cNvPicPr>
            <a:picLocks noChangeAspect="1"/>
          </p:cNvPicPr>
          <p:nvPr/>
        </p:nvPicPr>
        <p:blipFill>
          <a:blip r:embed="rId4"/>
          <a:stretch>
            <a:fillRect/>
          </a:stretch>
        </p:blipFill>
        <p:spPr>
          <a:xfrm>
            <a:off x="989381" y="3458261"/>
            <a:ext cx="307238" cy="307238"/>
          </a:xfrm>
          <a:prstGeom prst="rect">
            <a:avLst/>
          </a:prstGeom>
        </p:spPr>
      </p:pic>
      <p:sp>
        <p:nvSpPr>
          <p:cNvPr id="22" name="Text 16"/>
          <p:cNvSpPr txBox="1"/>
          <p:nvPr/>
        </p:nvSpPr>
        <p:spPr>
          <a:xfrm>
            <a:off x="822960" y="4069080"/>
            <a:ext cx="2834640" cy="365760"/>
          </a:xfrm>
          <a:prstGeom prst="rect">
            <a:avLst/>
          </a:prstGeom>
          <a:noFill/>
          <a:ln/>
        </p:spPr>
        <p:txBody>
          <a:bodyPr wrap="square" lIns="0" tIns="0" rIns="0" bIns="0" rtlCol="0" anchor="t"/>
          <a:lstStyle/>
          <a:p>
            <a:pPr algn="l" indent="0" marL="0">
              <a:lnSpc>
                <a:spcPct val="100000"/>
              </a:lnSpc>
              <a:buNone/>
            </a:pPr>
            <a:r>
              <a:rPr lang="en-US" sz="1600" b="1" dirty="0">
                <a:solidFill>
                  <a:srgbClr val="E8EEF8"/>
                </a:solidFill>
                <a:latin typeface="Arial" pitchFamily="34" charset="0"/>
                <a:ea typeface="Arial" pitchFamily="34" charset="-122"/>
                <a:cs typeface="Arial" pitchFamily="34" charset="-120"/>
              </a:rPr>
              <a:t>Đội vệ sinh đô thị</a:t>
            </a:r>
            <a:endParaRPr lang="en-US" sz="1600" dirty="0"/>
          </a:p>
        </p:txBody>
      </p:sp>
      <p:sp>
        <p:nvSpPr>
          <p:cNvPr id="23" name="Text 17"/>
          <p:cNvSpPr txBox="1"/>
          <p:nvPr/>
        </p:nvSpPr>
        <p:spPr>
          <a:xfrm>
            <a:off x="822960" y="4453128"/>
            <a:ext cx="2834640" cy="548640"/>
          </a:xfrm>
          <a:prstGeom prst="rect">
            <a:avLst/>
          </a:prstGeom>
          <a:noFill/>
          <a:ln/>
        </p:spPr>
        <p:txBody>
          <a:bodyPr wrap="square" lIns="0" tIns="0" rIns="0" bIns="0" rtlCol="0" anchor="t"/>
          <a:lstStyle/>
          <a:p>
            <a:pPr algn="l" indent="0" marL="0">
              <a:lnSpc>
                <a:spcPct val="100000"/>
              </a:lnSpc>
              <a:buNone/>
            </a:pPr>
            <a:r>
              <a:rPr lang="en-US" sz="1350" dirty="0">
                <a:solidFill>
                  <a:srgbClr val="93A6C6"/>
                </a:solidFill>
                <a:latin typeface="Calibri" pitchFamily="34" charset="0"/>
                <a:ea typeface="Calibri" pitchFamily="34" charset="-122"/>
                <a:cs typeface="Calibri" pitchFamily="34" charset="-120"/>
              </a:rPr>
              <a:t>Hàng đợi ưu tiên: đi đâu trước, còn bao lâu.</a:t>
            </a:r>
            <a:endParaRPr lang="en-US" sz="1350" dirty="0"/>
          </a:p>
        </p:txBody>
      </p:sp>
      <p:sp>
        <p:nvSpPr>
          <p:cNvPr id="24" name="Shape 18"/>
          <p:cNvSpPr/>
          <p:nvPr/>
        </p:nvSpPr>
        <p:spPr>
          <a:xfrm>
            <a:off x="4407408" y="3063240"/>
            <a:ext cx="3383280" cy="2011680"/>
          </a:xfrm>
          <a:prstGeom prst="roundRect">
            <a:avLst>
              <a:gd name="adj" fmla="val 4545"/>
            </a:avLst>
          </a:prstGeom>
          <a:solidFill>
            <a:srgbClr val="12233D"/>
          </a:solidFill>
          <a:ln w="9525">
            <a:solidFill>
              <a:srgbClr val="22395E"/>
            </a:solidFill>
            <a:prstDash val="solid"/>
          </a:ln>
        </p:spPr>
      </p:sp>
      <p:sp>
        <p:nvSpPr>
          <p:cNvPr id="25" name="Shape 19"/>
          <p:cNvSpPr/>
          <p:nvPr/>
        </p:nvSpPr>
        <p:spPr>
          <a:xfrm>
            <a:off x="4681728" y="3291840"/>
            <a:ext cx="640080" cy="640080"/>
          </a:xfrm>
          <a:prstGeom prst="ellipse">
            <a:avLst/>
          </a:prstGeom>
          <a:solidFill>
            <a:srgbClr val="22D3EE">
              <a:alpha val="18000"/>
            </a:srgbClr>
          </a:solidFill>
          <a:ln w="12700">
            <a:solidFill>
              <a:srgbClr val="22D3EE">
                <a:alpha val="60000"/>
              </a:srgbClr>
            </a:solidFill>
            <a:prstDash val="solid"/>
          </a:ln>
        </p:spPr>
      </p:sp>
      <p:pic>
        <p:nvPicPr>
          <p:cNvPr id="26" name="Image 4" descr="preencoded.png">    </p:cNvPr>
          <p:cNvPicPr>
            <a:picLocks noChangeAspect="1"/>
          </p:cNvPicPr>
          <p:nvPr/>
        </p:nvPicPr>
        <p:blipFill>
          <a:blip r:embed="rId5"/>
          <a:stretch>
            <a:fillRect/>
          </a:stretch>
        </p:blipFill>
        <p:spPr>
          <a:xfrm>
            <a:off x="4848149" y="3458261"/>
            <a:ext cx="307238" cy="307238"/>
          </a:xfrm>
          <a:prstGeom prst="rect">
            <a:avLst/>
          </a:prstGeom>
        </p:spPr>
      </p:pic>
      <p:sp>
        <p:nvSpPr>
          <p:cNvPr id="27" name="Text 20"/>
          <p:cNvSpPr txBox="1"/>
          <p:nvPr/>
        </p:nvSpPr>
        <p:spPr>
          <a:xfrm>
            <a:off x="4681728" y="4069080"/>
            <a:ext cx="2834640" cy="365760"/>
          </a:xfrm>
          <a:prstGeom prst="rect">
            <a:avLst/>
          </a:prstGeom>
          <a:noFill/>
          <a:ln/>
        </p:spPr>
        <p:txBody>
          <a:bodyPr wrap="square" lIns="0" tIns="0" rIns="0" bIns="0" rtlCol="0" anchor="t"/>
          <a:lstStyle/>
          <a:p>
            <a:pPr algn="l" indent="0" marL="0">
              <a:lnSpc>
                <a:spcPct val="100000"/>
              </a:lnSpc>
              <a:buNone/>
            </a:pPr>
            <a:r>
              <a:rPr lang="en-US" sz="1600" b="1" dirty="0">
                <a:solidFill>
                  <a:srgbClr val="E8EEF8"/>
                </a:solidFill>
                <a:latin typeface="Arial" pitchFamily="34" charset="0"/>
                <a:ea typeface="Arial" pitchFamily="34" charset="-122"/>
                <a:cs typeface="Arial" pitchFamily="34" charset="-120"/>
              </a:rPr>
              <a:t>Cơ quan quản lý môi trường</a:t>
            </a:r>
            <a:endParaRPr lang="en-US" sz="1600" dirty="0"/>
          </a:p>
        </p:txBody>
      </p:sp>
      <p:sp>
        <p:nvSpPr>
          <p:cNvPr id="28" name="Text 21"/>
          <p:cNvSpPr txBox="1"/>
          <p:nvPr/>
        </p:nvSpPr>
        <p:spPr>
          <a:xfrm>
            <a:off x="4681728" y="4453128"/>
            <a:ext cx="2834640" cy="548640"/>
          </a:xfrm>
          <a:prstGeom prst="rect">
            <a:avLst/>
          </a:prstGeom>
          <a:noFill/>
          <a:ln/>
        </p:spPr>
        <p:txBody>
          <a:bodyPr wrap="square" lIns="0" tIns="0" rIns="0" bIns="0" rtlCol="0" anchor="t"/>
          <a:lstStyle/>
          <a:p>
            <a:pPr algn="l" indent="0" marL="0">
              <a:lnSpc>
                <a:spcPct val="100000"/>
              </a:lnSpc>
              <a:buNone/>
            </a:pPr>
            <a:r>
              <a:rPr lang="en-US" sz="1350" dirty="0">
                <a:solidFill>
                  <a:srgbClr val="93A6C6"/>
                </a:solidFill>
                <a:latin typeface="Calibri" pitchFamily="34" charset="0"/>
                <a:ea typeface="Calibri" pitchFamily="34" charset="-122"/>
                <a:cs typeface="Calibri" pitchFamily="34" charset="-120"/>
              </a:rPr>
              <a:t>Bản đồ rủi ro, thống kê theo camera, xuất báo cáo.</a:t>
            </a:r>
            <a:endParaRPr lang="en-US" sz="1350" dirty="0"/>
          </a:p>
        </p:txBody>
      </p:sp>
      <p:sp>
        <p:nvSpPr>
          <p:cNvPr id="29" name="Shape 22"/>
          <p:cNvSpPr/>
          <p:nvPr/>
        </p:nvSpPr>
        <p:spPr>
          <a:xfrm>
            <a:off x="8266176" y="3063240"/>
            <a:ext cx="3383280" cy="2011680"/>
          </a:xfrm>
          <a:prstGeom prst="roundRect">
            <a:avLst>
              <a:gd name="adj" fmla="val 4545"/>
            </a:avLst>
          </a:prstGeom>
          <a:solidFill>
            <a:srgbClr val="12233D"/>
          </a:solidFill>
          <a:ln w="9525">
            <a:solidFill>
              <a:srgbClr val="22395E"/>
            </a:solidFill>
            <a:prstDash val="solid"/>
          </a:ln>
        </p:spPr>
      </p:sp>
      <p:sp>
        <p:nvSpPr>
          <p:cNvPr id="30" name="Shape 23"/>
          <p:cNvSpPr/>
          <p:nvPr/>
        </p:nvSpPr>
        <p:spPr>
          <a:xfrm>
            <a:off x="8540496" y="3291840"/>
            <a:ext cx="640080" cy="640080"/>
          </a:xfrm>
          <a:prstGeom prst="ellipse">
            <a:avLst/>
          </a:prstGeom>
          <a:solidFill>
            <a:srgbClr val="22D3EE">
              <a:alpha val="18000"/>
            </a:srgbClr>
          </a:solidFill>
          <a:ln w="12700">
            <a:solidFill>
              <a:srgbClr val="22D3EE">
                <a:alpha val="60000"/>
              </a:srgbClr>
            </a:solidFill>
            <a:prstDash val="solid"/>
          </a:ln>
        </p:spPr>
      </p:sp>
      <p:pic>
        <p:nvPicPr>
          <p:cNvPr id="31" name="Image 5" descr="preencoded.png">    </p:cNvPr>
          <p:cNvPicPr>
            <a:picLocks noChangeAspect="1"/>
          </p:cNvPicPr>
          <p:nvPr/>
        </p:nvPicPr>
        <p:blipFill>
          <a:blip r:embed="rId6"/>
          <a:stretch>
            <a:fillRect/>
          </a:stretch>
        </p:blipFill>
        <p:spPr>
          <a:xfrm>
            <a:off x="8706917" y="3458261"/>
            <a:ext cx="307238" cy="307238"/>
          </a:xfrm>
          <a:prstGeom prst="rect">
            <a:avLst/>
          </a:prstGeom>
        </p:spPr>
      </p:pic>
      <p:sp>
        <p:nvSpPr>
          <p:cNvPr id="32" name="Text 24"/>
          <p:cNvSpPr txBox="1"/>
          <p:nvPr/>
        </p:nvSpPr>
        <p:spPr>
          <a:xfrm>
            <a:off x="8540496" y="4069080"/>
            <a:ext cx="2834640" cy="365760"/>
          </a:xfrm>
          <a:prstGeom prst="rect">
            <a:avLst/>
          </a:prstGeom>
          <a:noFill/>
          <a:ln/>
        </p:spPr>
        <p:txBody>
          <a:bodyPr wrap="square" lIns="0" tIns="0" rIns="0" bIns="0" rtlCol="0" anchor="t"/>
          <a:lstStyle/>
          <a:p>
            <a:pPr algn="l" indent="0" marL="0">
              <a:lnSpc>
                <a:spcPct val="100000"/>
              </a:lnSpc>
              <a:buNone/>
            </a:pPr>
            <a:r>
              <a:rPr lang="en-US" sz="1600" b="1" dirty="0">
                <a:solidFill>
                  <a:srgbClr val="E8EEF8"/>
                </a:solidFill>
                <a:latin typeface="Arial" pitchFamily="34" charset="0"/>
                <a:ea typeface="Arial" pitchFamily="34" charset="-122"/>
                <a:cs typeface="Arial" pitchFamily="34" charset="-120"/>
              </a:rPr>
              <a:t>Chính quyền địa phương</a:t>
            </a:r>
            <a:endParaRPr lang="en-US" sz="1600" dirty="0"/>
          </a:p>
        </p:txBody>
      </p:sp>
      <p:sp>
        <p:nvSpPr>
          <p:cNvPr id="33" name="Text 25"/>
          <p:cNvSpPr txBox="1"/>
          <p:nvPr/>
        </p:nvSpPr>
        <p:spPr>
          <a:xfrm>
            <a:off x="8540496" y="4453128"/>
            <a:ext cx="2834640" cy="548640"/>
          </a:xfrm>
          <a:prstGeom prst="rect">
            <a:avLst/>
          </a:prstGeom>
          <a:noFill/>
          <a:ln/>
        </p:spPr>
        <p:txBody>
          <a:bodyPr wrap="square" lIns="0" tIns="0" rIns="0" bIns="0" rtlCol="0" anchor="t"/>
          <a:lstStyle/>
          <a:p>
            <a:pPr algn="l" indent="0" marL="0">
              <a:lnSpc>
                <a:spcPct val="100000"/>
              </a:lnSpc>
              <a:buNone/>
            </a:pPr>
            <a:r>
              <a:rPr lang="en-US" sz="1350" dirty="0">
                <a:solidFill>
                  <a:srgbClr val="93A6C6"/>
                </a:solidFill>
                <a:latin typeface="Calibri" pitchFamily="34" charset="0"/>
                <a:ea typeface="Calibri" pitchFamily="34" charset="-122"/>
                <a:cs typeface="Calibri" pitchFamily="34" charset="-120"/>
              </a:rPr>
              <a:t>Nhiều camera trên bản đồ GIS, quy hoạch điểm thu gom.</a:t>
            </a:r>
            <a:endParaRPr lang="en-US" sz="1350" dirty="0"/>
          </a:p>
        </p:txBody>
      </p:sp>
      <p:sp>
        <p:nvSpPr>
          <p:cNvPr id="34" name="Shape 26"/>
          <p:cNvSpPr/>
          <p:nvPr/>
        </p:nvSpPr>
        <p:spPr>
          <a:xfrm>
            <a:off x="548640" y="5394960"/>
            <a:ext cx="502920" cy="502920"/>
          </a:xfrm>
          <a:prstGeom prst="ellipse">
            <a:avLst/>
          </a:prstGeom>
          <a:solidFill>
            <a:srgbClr val="22C55E">
              <a:alpha val="18000"/>
            </a:srgbClr>
          </a:solidFill>
          <a:ln w="12700">
            <a:solidFill>
              <a:srgbClr val="22C55E">
                <a:alpha val="60000"/>
              </a:srgbClr>
            </a:solidFill>
            <a:prstDash val="solid"/>
          </a:ln>
        </p:spPr>
      </p:sp>
      <p:pic>
        <p:nvPicPr>
          <p:cNvPr id="35" name="Image 6" descr="preencoded.png">    </p:cNvPr>
          <p:cNvPicPr>
            <a:picLocks noChangeAspect="1"/>
          </p:cNvPicPr>
          <p:nvPr/>
        </p:nvPicPr>
        <p:blipFill>
          <a:blip r:embed="rId7"/>
          <a:stretch>
            <a:fillRect/>
          </a:stretch>
        </p:blipFill>
        <p:spPr>
          <a:xfrm>
            <a:off x="679399" y="5525719"/>
            <a:ext cx="241402" cy="241402"/>
          </a:xfrm>
          <a:prstGeom prst="rect">
            <a:avLst/>
          </a:prstGeom>
        </p:spPr>
      </p:pic>
      <p:sp>
        <p:nvSpPr>
          <p:cNvPr id="36" name="Text 27"/>
          <p:cNvSpPr txBox="1"/>
          <p:nvPr/>
        </p:nvSpPr>
        <p:spPr>
          <a:xfrm>
            <a:off x="1234440" y="5468112"/>
            <a:ext cx="10408615" cy="365760"/>
          </a:xfrm>
          <a:prstGeom prst="rect">
            <a:avLst/>
          </a:prstGeom>
          <a:noFill/>
          <a:ln/>
        </p:spPr>
        <p:txBody>
          <a:bodyPr wrap="square" lIns="0" tIns="0" rIns="0" bIns="0" rtlCol="0" anchor="t"/>
          <a:lstStyle/>
          <a:p>
            <a:pPr algn="l" indent="0" marL="0">
              <a:lnSpc>
                <a:spcPct val="100000"/>
              </a:lnSpc>
              <a:buNone/>
            </a:pPr>
            <a:r>
              <a:rPr lang="en-US" sz="1500" b="1" dirty="0">
                <a:solidFill>
                  <a:srgbClr val="E8EEF8"/>
                </a:solidFill>
                <a:latin typeface="Calibri" pitchFamily="34" charset="0"/>
                <a:ea typeface="Calibri" pitchFamily="34" charset="-122"/>
                <a:cs typeface="Calibri" pitchFamily="34" charset="-120"/>
              </a:rPr>
              <a:t>Tận dụng camera sẵn có  ·  không nhận diện con người  ·  người vận hành luôn quyết định cuối cùng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DD4BF"/>
                </a:solidFill>
                <a:latin typeface="Arial" pitchFamily="34" charset="0"/>
                <a:ea typeface="Arial" pitchFamily="34" charset="-122"/>
                <a:cs typeface="Arial" pitchFamily="34" charset="-120"/>
              </a:rPr>
              <a:t>10 · KHẢ NĂNG PHÁT TRIỂN</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t"/>
          <a:lstStyle/>
          <a:p>
            <a:pPr algn="l" indent="0" marL="0">
              <a:lnSpc>
                <a:spcPct val="100000"/>
              </a:lnSpc>
              <a:buNone/>
            </a:pPr>
            <a:r>
              <a:rPr lang="en-US" sz="3000" b="1" dirty="0">
                <a:solidFill>
                  <a:srgbClr val="E8EEF8"/>
                </a:solidFill>
                <a:latin typeface="Arial" pitchFamily="34" charset="0"/>
                <a:ea typeface="Arial" pitchFamily="34" charset="-122"/>
                <a:cs typeface="Arial" pitchFamily="34" charset="-120"/>
              </a:rPr>
              <a:t>Lộ trình phát triển</a:t>
            </a:r>
            <a:endParaRPr lang="en-US" sz="3000" dirty="0"/>
          </a:p>
        </p:txBody>
      </p:sp>
      <p:sp>
        <p:nvSpPr>
          <p:cNvPr id="4" name="Text 2"/>
          <p:cNvSpPr txBox="1"/>
          <p:nvPr/>
        </p:nvSpPr>
        <p:spPr>
          <a:xfrm>
            <a:off x="8899855" y="6473952"/>
            <a:ext cx="2743200" cy="228600"/>
          </a:xfrm>
          <a:prstGeom prst="rect">
            <a:avLst/>
          </a:prstGeom>
          <a:noFill/>
          <a:ln/>
        </p:spPr>
        <p:txBody>
          <a:bodyPr wrap="square" lIns="0" tIns="0" rIns="0" bIns="0" rtlCol="0" anchor="t"/>
          <a:lstStyle/>
          <a:p>
            <a:pPr algn="r" indent="0" marL="0">
              <a:lnSpc>
                <a:spcPct val="100000"/>
              </a:lnSpc>
              <a:buNone/>
            </a:pPr>
            <a:r>
              <a:rPr lang="en-US" sz="1000" dirty="0">
                <a:solidFill>
                  <a:srgbClr val="5E7194"/>
                </a:solidFill>
                <a:latin typeface="Calibri" pitchFamily="34" charset="0"/>
                <a:ea typeface="Calibri" pitchFamily="34" charset="-122"/>
                <a:cs typeface="Calibri" pitchFamily="34" charset="-120"/>
              </a:rPr>
              <a:t>RiverGuard AI  ·  11/12</a:t>
            </a:r>
            <a:endParaRPr lang="en-US" sz="1000" dirty="0"/>
          </a:p>
        </p:txBody>
      </p:sp>
      <p:sp>
        <p:nvSpPr>
          <p:cNvPr id="5" name="Shape 3"/>
          <p:cNvSpPr/>
          <p:nvPr/>
        </p:nvSpPr>
        <p:spPr>
          <a:xfrm>
            <a:off x="822960" y="2286000"/>
            <a:ext cx="10545775" cy="0"/>
          </a:xfrm>
          <a:prstGeom prst="line">
            <a:avLst/>
          </a:prstGeom>
          <a:noFill/>
          <a:ln w="25400">
            <a:solidFill>
              <a:srgbClr val="22395E"/>
            </a:solidFill>
            <a:prstDash val="solid"/>
          </a:ln>
        </p:spPr>
      </p:sp>
      <p:sp>
        <p:nvSpPr>
          <p:cNvPr id="6" name="Text 4"/>
          <p:cNvSpPr txBox="1"/>
          <p:nvPr/>
        </p:nvSpPr>
        <p:spPr>
          <a:xfrm>
            <a:off x="777240" y="1572768"/>
            <a:ext cx="3154680" cy="365760"/>
          </a:xfrm>
          <a:prstGeom prst="rect">
            <a:avLst/>
          </a:prstGeom>
          <a:noFill/>
          <a:ln/>
        </p:spPr>
        <p:txBody>
          <a:bodyPr wrap="square" lIns="0" tIns="0" rIns="0" bIns="0" rtlCol="0" anchor="t"/>
          <a:lstStyle/>
          <a:p>
            <a:pPr algn="l" indent="0" marL="0">
              <a:lnSpc>
                <a:spcPct val="100000"/>
              </a:lnSpc>
              <a:buNone/>
            </a:pPr>
            <a:r>
              <a:rPr lang="en-US" sz="1700" b="1" dirty="0">
                <a:solidFill>
                  <a:srgbClr val="2DD4BF"/>
                </a:solidFill>
                <a:latin typeface="Arial" pitchFamily="34" charset="0"/>
                <a:ea typeface="Arial" pitchFamily="34" charset="-122"/>
                <a:cs typeface="Arial" pitchFamily="34" charset="-120"/>
              </a:rPr>
              <a:t>Trước Vòng Khu vực</a:t>
            </a:r>
            <a:endParaRPr lang="en-US" sz="1700" dirty="0"/>
          </a:p>
        </p:txBody>
      </p:sp>
      <p:sp>
        <p:nvSpPr>
          <p:cNvPr id="7" name="Text 5"/>
          <p:cNvSpPr txBox="1"/>
          <p:nvPr/>
        </p:nvSpPr>
        <p:spPr>
          <a:xfrm>
            <a:off x="777240" y="1901952"/>
            <a:ext cx="3154680" cy="256032"/>
          </a:xfrm>
          <a:prstGeom prst="rect">
            <a:avLst/>
          </a:prstGeom>
          <a:noFill/>
          <a:ln/>
        </p:spPr>
        <p:txBody>
          <a:bodyPr wrap="square" lIns="0" tIns="0" rIns="0" bIns="0" rtlCol="0" anchor="t"/>
          <a:lstStyle/>
          <a:p>
            <a:pPr algn="l" indent="0" marL="0">
              <a:lnSpc>
                <a:spcPct val="100000"/>
              </a:lnSpc>
              <a:buNone/>
            </a:pPr>
            <a:r>
              <a:rPr lang="en-US" sz="1250" dirty="0">
                <a:solidFill>
                  <a:srgbClr val="5E7194"/>
                </a:solidFill>
                <a:latin typeface="Calibri" pitchFamily="34" charset="0"/>
                <a:ea typeface="Calibri" pitchFamily="34" charset="-122"/>
                <a:cs typeface="Calibri" pitchFamily="34" charset="-120"/>
              </a:rPr>
              <a:t>tháng 10/2026</a:t>
            </a:r>
            <a:endParaRPr lang="en-US" sz="1250" dirty="0"/>
          </a:p>
        </p:txBody>
      </p:sp>
      <p:sp>
        <p:nvSpPr>
          <p:cNvPr id="8" name="Shape 6"/>
          <p:cNvSpPr/>
          <p:nvPr/>
        </p:nvSpPr>
        <p:spPr>
          <a:xfrm>
            <a:off x="777240" y="2157984"/>
            <a:ext cx="256032" cy="256032"/>
          </a:xfrm>
          <a:prstGeom prst="ellipse">
            <a:avLst/>
          </a:prstGeom>
          <a:solidFill>
            <a:srgbClr val="2DD4BF"/>
          </a:solidFill>
          <a:ln w="25400">
            <a:solidFill>
              <a:srgbClr val="0A1628"/>
            </a:solidFill>
            <a:prstDash val="solid"/>
          </a:ln>
        </p:spPr>
      </p:sp>
      <p:sp>
        <p:nvSpPr>
          <p:cNvPr id="9" name="Shape 7"/>
          <p:cNvSpPr/>
          <p:nvPr/>
        </p:nvSpPr>
        <p:spPr>
          <a:xfrm>
            <a:off x="548640" y="2606040"/>
            <a:ext cx="3429000" cy="3063240"/>
          </a:xfrm>
          <a:prstGeom prst="roundRect">
            <a:avLst>
              <a:gd name="adj" fmla="val 2985"/>
            </a:avLst>
          </a:prstGeom>
          <a:solidFill>
            <a:srgbClr val="12233D"/>
          </a:solidFill>
          <a:ln w="9525">
            <a:solidFill>
              <a:srgbClr val="22395E"/>
            </a:solidFill>
            <a:prstDash val="solid"/>
          </a:ln>
        </p:spPr>
      </p:sp>
      <p:pic>
        <p:nvPicPr>
          <p:cNvPr id="10" name="Image 0" descr="preencoded.png">    </p:cNvPr>
          <p:cNvPicPr>
            <a:picLocks noChangeAspect="1"/>
          </p:cNvPicPr>
          <p:nvPr/>
        </p:nvPicPr>
        <p:blipFill>
          <a:blip r:embed="rId1"/>
          <a:stretch>
            <a:fillRect/>
          </a:stretch>
        </p:blipFill>
        <p:spPr>
          <a:xfrm>
            <a:off x="822960" y="2871216"/>
            <a:ext cx="256032" cy="256032"/>
          </a:xfrm>
          <a:prstGeom prst="rect">
            <a:avLst/>
          </a:prstGeom>
        </p:spPr>
      </p:pic>
      <p:sp>
        <p:nvSpPr>
          <p:cNvPr id="11" name="Text 8"/>
          <p:cNvSpPr txBox="1"/>
          <p:nvPr/>
        </p:nvSpPr>
        <p:spPr>
          <a:xfrm>
            <a:off x="1207008" y="28346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Fine-tune YOLO-seg trên RiSID ở 1024 px</a:t>
            </a:r>
            <a:endParaRPr lang="en-US" sz="1450" dirty="0"/>
          </a:p>
        </p:txBody>
      </p:sp>
      <p:pic>
        <p:nvPicPr>
          <p:cNvPr id="12" name="Image 1" descr="preencoded.png">    </p:cNvPr>
          <p:cNvPicPr>
            <a:picLocks noChangeAspect="1"/>
          </p:cNvPicPr>
          <p:nvPr/>
        </p:nvPicPr>
        <p:blipFill>
          <a:blip r:embed="rId2"/>
          <a:stretch>
            <a:fillRect/>
          </a:stretch>
        </p:blipFill>
        <p:spPr>
          <a:xfrm>
            <a:off x="822960" y="3785616"/>
            <a:ext cx="256032" cy="256032"/>
          </a:xfrm>
          <a:prstGeom prst="rect">
            <a:avLst/>
          </a:prstGeom>
        </p:spPr>
      </p:pic>
      <p:sp>
        <p:nvSpPr>
          <p:cNvPr id="13" name="Text 9"/>
          <p:cNvSpPr txBox="1"/>
          <p:nvPr/>
        </p:nvSpPr>
        <p:spPr>
          <a:xfrm>
            <a:off x="1207008" y="37490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Công bố mAP, IDF1 trên tập test tách theo video</a:t>
            </a:r>
            <a:endParaRPr lang="en-US" sz="1450" dirty="0"/>
          </a:p>
        </p:txBody>
      </p:sp>
      <p:pic>
        <p:nvPicPr>
          <p:cNvPr id="14" name="Image 2" descr="preencoded.png">    </p:cNvPr>
          <p:cNvPicPr>
            <a:picLocks noChangeAspect="1"/>
          </p:cNvPicPr>
          <p:nvPr/>
        </p:nvPicPr>
        <p:blipFill>
          <a:blip r:embed="rId3"/>
          <a:stretch>
            <a:fillRect/>
          </a:stretch>
        </p:blipFill>
        <p:spPr>
          <a:xfrm>
            <a:off x="822960" y="4700016"/>
            <a:ext cx="256032" cy="256032"/>
          </a:xfrm>
          <a:prstGeom prst="rect">
            <a:avLst/>
          </a:prstGeom>
        </p:spPr>
      </p:pic>
      <p:sp>
        <p:nvSpPr>
          <p:cNvPr id="15" name="Text 10"/>
          <p:cNvSpPr txBox="1"/>
          <p:nvPr/>
        </p:nvSpPr>
        <p:spPr>
          <a:xfrm>
            <a:off x="1207008" y="46634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Thêm ảnh nền không rác để giảm báo nhầm</a:t>
            </a:r>
            <a:endParaRPr lang="en-US" sz="1450" dirty="0"/>
          </a:p>
        </p:txBody>
      </p:sp>
      <p:sp>
        <p:nvSpPr>
          <p:cNvPr id="16" name="Text 11"/>
          <p:cNvSpPr txBox="1"/>
          <p:nvPr/>
        </p:nvSpPr>
        <p:spPr>
          <a:xfrm>
            <a:off x="4608576" y="1572768"/>
            <a:ext cx="3154680" cy="365760"/>
          </a:xfrm>
          <a:prstGeom prst="rect">
            <a:avLst/>
          </a:prstGeom>
          <a:noFill/>
          <a:ln/>
        </p:spPr>
        <p:txBody>
          <a:bodyPr wrap="square" lIns="0" tIns="0" rIns="0" bIns="0" rtlCol="0" anchor="t"/>
          <a:lstStyle/>
          <a:p>
            <a:pPr algn="l" indent="0" marL="0">
              <a:lnSpc>
                <a:spcPct val="100000"/>
              </a:lnSpc>
              <a:buNone/>
            </a:pPr>
            <a:r>
              <a:rPr lang="en-US" sz="1700" b="1" dirty="0">
                <a:solidFill>
                  <a:srgbClr val="F59E0B"/>
                </a:solidFill>
                <a:latin typeface="Arial" pitchFamily="34" charset="0"/>
                <a:ea typeface="Arial" pitchFamily="34" charset="-122"/>
                <a:cs typeface="Arial" pitchFamily="34" charset="-120"/>
              </a:rPr>
              <a:t>Vòng Chung kết</a:t>
            </a:r>
            <a:endParaRPr lang="en-US" sz="1700" dirty="0"/>
          </a:p>
        </p:txBody>
      </p:sp>
      <p:sp>
        <p:nvSpPr>
          <p:cNvPr id="17" name="Text 12"/>
          <p:cNvSpPr txBox="1"/>
          <p:nvPr/>
        </p:nvSpPr>
        <p:spPr>
          <a:xfrm>
            <a:off x="4608576" y="1901952"/>
            <a:ext cx="3154680" cy="256032"/>
          </a:xfrm>
          <a:prstGeom prst="rect">
            <a:avLst/>
          </a:prstGeom>
          <a:noFill/>
          <a:ln/>
        </p:spPr>
        <p:txBody>
          <a:bodyPr wrap="square" lIns="0" tIns="0" rIns="0" bIns="0" rtlCol="0" anchor="t"/>
          <a:lstStyle/>
          <a:p>
            <a:pPr algn="l" indent="0" marL="0">
              <a:lnSpc>
                <a:spcPct val="100000"/>
              </a:lnSpc>
              <a:buNone/>
            </a:pPr>
            <a:r>
              <a:rPr lang="en-US" sz="1250" dirty="0">
                <a:solidFill>
                  <a:srgbClr val="5E7194"/>
                </a:solidFill>
                <a:latin typeface="Calibri" pitchFamily="34" charset="0"/>
                <a:ea typeface="Calibri" pitchFamily="34" charset="-122"/>
                <a:cs typeface="Calibri" pitchFamily="34" charset="-120"/>
              </a:rPr>
              <a:t>tháng 11/2026</a:t>
            </a:r>
            <a:endParaRPr lang="en-US" sz="1250" dirty="0"/>
          </a:p>
        </p:txBody>
      </p:sp>
      <p:sp>
        <p:nvSpPr>
          <p:cNvPr id="18" name="Shape 13"/>
          <p:cNvSpPr/>
          <p:nvPr/>
        </p:nvSpPr>
        <p:spPr>
          <a:xfrm>
            <a:off x="4608576" y="2157984"/>
            <a:ext cx="256032" cy="256032"/>
          </a:xfrm>
          <a:prstGeom prst="ellipse">
            <a:avLst/>
          </a:prstGeom>
          <a:solidFill>
            <a:srgbClr val="F59E0B"/>
          </a:solidFill>
          <a:ln w="25400">
            <a:solidFill>
              <a:srgbClr val="0A1628"/>
            </a:solidFill>
            <a:prstDash val="solid"/>
          </a:ln>
        </p:spPr>
      </p:sp>
      <p:sp>
        <p:nvSpPr>
          <p:cNvPr id="19" name="Shape 14"/>
          <p:cNvSpPr/>
          <p:nvPr/>
        </p:nvSpPr>
        <p:spPr>
          <a:xfrm>
            <a:off x="4379976" y="2606040"/>
            <a:ext cx="3429000" cy="3063240"/>
          </a:xfrm>
          <a:prstGeom prst="roundRect">
            <a:avLst>
              <a:gd name="adj" fmla="val 2985"/>
            </a:avLst>
          </a:prstGeom>
          <a:solidFill>
            <a:srgbClr val="12233D"/>
          </a:solidFill>
          <a:ln w="9525">
            <a:solidFill>
              <a:srgbClr val="22395E"/>
            </a:solidFill>
            <a:prstDash val="solid"/>
          </a:ln>
        </p:spPr>
      </p:sp>
      <p:pic>
        <p:nvPicPr>
          <p:cNvPr id="20" name="Image 3" descr="preencoded.png">    </p:cNvPr>
          <p:cNvPicPr>
            <a:picLocks noChangeAspect="1"/>
          </p:cNvPicPr>
          <p:nvPr/>
        </p:nvPicPr>
        <p:blipFill>
          <a:blip r:embed="rId4"/>
          <a:stretch>
            <a:fillRect/>
          </a:stretch>
        </p:blipFill>
        <p:spPr>
          <a:xfrm>
            <a:off x="4654296" y="2871216"/>
            <a:ext cx="256032" cy="256032"/>
          </a:xfrm>
          <a:prstGeom prst="rect">
            <a:avLst/>
          </a:prstGeom>
        </p:spPr>
      </p:pic>
      <p:sp>
        <p:nvSpPr>
          <p:cNvPr id="21" name="Text 15"/>
          <p:cNvSpPr txBox="1"/>
          <p:nvPr/>
        </p:nvSpPr>
        <p:spPr>
          <a:xfrm>
            <a:off x="5038344" y="28346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Camera cố định có hiệu chuẩn: m/s, hướng địa lý</a:t>
            </a:r>
            <a:endParaRPr lang="en-US" sz="1450" dirty="0"/>
          </a:p>
        </p:txBody>
      </p:sp>
      <p:pic>
        <p:nvPicPr>
          <p:cNvPr id="22" name="Image 4" descr="preencoded.png">    </p:cNvPr>
          <p:cNvPicPr>
            <a:picLocks noChangeAspect="1"/>
          </p:cNvPicPr>
          <p:nvPr/>
        </p:nvPicPr>
        <p:blipFill>
          <a:blip r:embed="rId5"/>
          <a:stretch>
            <a:fillRect/>
          </a:stretch>
        </p:blipFill>
        <p:spPr>
          <a:xfrm>
            <a:off x="4654296" y="3785616"/>
            <a:ext cx="256032" cy="256032"/>
          </a:xfrm>
          <a:prstGeom prst="rect">
            <a:avLst/>
          </a:prstGeom>
        </p:spPr>
      </p:pic>
      <p:sp>
        <p:nvSpPr>
          <p:cNvPr id="23" name="Text 16"/>
          <p:cNvSpPr txBox="1"/>
          <p:nvPr/>
        </p:nvSpPr>
        <p:spPr>
          <a:xfrm>
            <a:off x="5038344" y="37490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Tăng tốc suy luận (TensorRT, thiết bị biên)</a:t>
            </a:r>
            <a:endParaRPr lang="en-US" sz="1450" dirty="0"/>
          </a:p>
        </p:txBody>
      </p:sp>
      <p:pic>
        <p:nvPicPr>
          <p:cNvPr id="24" name="Image 5" descr="preencoded.png">    </p:cNvPr>
          <p:cNvPicPr>
            <a:picLocks noChangeAspect="1"/>
          </p:cNvPicPr>
          <p:nvPr/>
        </p:nvPicPr>
        <p:blipFill>
          <a:blip r:embed="rId6"/>
          <a:stretch>
            <a:fillRect/>
          </a:stretch>
        </p:blipFill>
        <p:spPr>
          <a:xfrm>
            <a:off x="4654296" y="4700016"/>
            <a:ext cx="256032" cy="256032"/>
          </a:xfrm>
          <a:prstGeom prst="rect">
            <a:avLst/>
          </a:prstGeom>
        </p:spPr>
      </p:pic>
      <p:sp>
        <p:nvSpPr>
          <p:cNvPr id="25" name="Text 17"/>
          <p:cNvSpPr txBox="1"/>
          <p:nvPr/>
        </p:nvSpPr>
        <p:spPr>
          <a:xfrm>
            <a:off x="5038344" y="46634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Demo trực tuyến ổn định tối thiểu 48 giờ</a:t>
            </a:r>
            <a:endParaRPr lang="en-US" sz="1450" dirty="0"/>
          </a:p>
        </p:txBody>
      </p:sp>
      <p:sp>
        <p:nvSpPr>
          <p:cNvPr id="26" name="Text 18"/>
          <p:cNvSpPr txBox="1"/>
          <p:nvPr/>
        </p:nvSpPr>
        <p:spPr>
          <a:xfrm>
            <a:off x="8439912" y="1572768"/>
            <a:ext cx="3154680" cy="365760"/>
          </a:xfrm>
          <a:prstGeom prst="rect">
            <a:avLst/>
          </a:prstGeom>
          <a:noFill/>
          <a:ln/>
        </p:spPr>
        <p:txBody>
          <a:bodyPr wrap="square" lIns="0" tIns="0" rIns="0" bIns="0" rtlCol="0" anchor="t"/>
          <a:lstStyle/>
          <a:p>
            <a:pPr algn="l" indent="0" marL="0">
              <a:lnSpc>
                <a:spcPct val="100000"/>
              </a:lnSpc>
              <a:buNone/>
            </a:pPr>
            <a:r>
              <a:rPr lang="en-US" sz="1700" b="1" dirty="0">
                <a:solidFill>
                  <a:srgbClr val="A78BFA"/>
                </a:solidFill>
                <a:latin typeface="Arial" pitchFamily="34" charset="0"/>
                <a:ea typeface="Arial" pitchFamily="34" charset="-122"/>
                <a:cs typeface="Arial" pitchFamily="34" charset="-120"/>
              </a:rPr>
              <a:t>Mở rộng</a:t>
            </a:r>
            <a:endParaRPr lang="en-US" sz="1700" dirty="0"/>
          </a:p>
        </p:txBody>
      </p:sp>
      <p:sp>
        <p:nvSpPr>
          <p:cNvPr id="27" name="Text 19"/>
          <p:cNvSpPr txBox="1"/>
          <p:nvPr/>
        </p:nvSpPr>
        <p:spPr>
          <a:xfrm>
            <a:off x="8439912" y="1901952"/>
            <a:ext cx="3154680" cy="256032"/>
          </a:xfrm>
          <a:prstGeom prst="rect">
            <a:avLst/>
          </a:prstGeom>
          <a:noFill/>
          <a:ln/>
        </p:spPr>
        <p:txBody>
          <a:bodyPr wrap="square" lIns="0" tIns="0" rIns="0" bIns="0" rtlCol="0" anchor="t"/>
          <a:lstStyle/>
          <a:p>
            <a:pPr algn="l" indent="0" marL="0">
              <a:lnSpc>
                <a:spcPct val="100000"/>
              </a:lnSpc>
              <a:buNone/>
            </a:pPr>
            <a:r>
              <a:rPr lang="en-US" sz="1250" dirty="0">
                <a:solidFill>
                  <a:srgbClr val="5E7194"/>
                </a:solidFill>
                <a:latin typeface="Calibri" pitchFamily="34" charset="0"/>
                <a:ea typeface="Calibri" pitchFamily="34" charset="-122"/>
                <a:cs typeface="Calibri" pitchFamily="34" charset="-120"/>
              </a:rPr>
              <a:t>sau cuộc thi</a:t>
            </a:r>
            <a:endParaRPr lang="en-US" sz="1250" dirty="0"/>
          </a:p>
        </p:txBody>
      </p:sp>
      <p:sp>
        <p:nvSpPr>
          <p:cNvPr id="28" name="Shape 20"/>
          <p:cNvSpPr/>
          <p:nvPr/>
        </p:nvSpPr>
        <p:spPr>
          <a:xfrm>
            <a:off x="8439912" y="2157984"/>
            <a:ext cx="256032" cy="256032"/>
          </a:xfrm>
          <a:prstGeom prst="ellipse">
            <a:avLst/>
          </a:prstGeom>
          <a:solidFill>
            <a:srgbClr val="A78BFA"/>
          </a:solidFill>
          <a:ln w="25400">
            <a:solidFill>
              <a:srgbClr val="0A1628"/>
            </a:solidFill>
            <a:prstDash val="solid"/>
          </a:ln>
        </p:spPr>
      </p:sp>
      <p:sp>
        <p:nvSpPr>
          <p:cNvPr id="29" name="Shape 21"/>
          <p:cNvSpPr/>
          <p:nvPr/>
        </p:nvSpPr>
        <p:spPr>
          <a:xfrm>
            <a:off x="8211312" y="2606040"/>
            <a:ext cx="3429000" cy="3063240"/>
          </a:xfrm>
          <a:prstGeom prst="roundRect">
            <a:avLst>
              <a:gd name="adj" fmla="val 2985"/>
            </a:avLst>
          </a:prstGeom>
          <a:solidFill>
            <a:srgbClr val="12233D"/>
          </a:solidFill>
          <a:ln w="9525">
            <a:solidFill>
              <a:srgbClr val="22395E"/>
            </a:solidFill>
            <a:prstDash val="solid"/>
          </a:ln>
        </p:spPr>
      </p:sp>
      <p:pic>
        <p:nvPicPr>
          <p:cNvPr id="30" name="Image 6" descr="preencoded.png">    </p:cNvPr>
          <p:cNvPicPr>
            <a:picLocks noChangeAspect="1"/>
          </p:cNvPicPr>
          <p:nvPr/>
        </p:nvPicPr>
        <p:blipFill>
          <a:blip r:embed="rId7"/>
          <a:stretch>
            <a:fillRect/>
          </a:stretch>
        </p:blipFill>
        <p:spPr>
          <a:xfrm>
            <a:off x="8485632" y="2871216"/>
            <a:ext cx="256032" cy="256032"/>
          </a:xfrm>
          <a:prstGeom prst="rect">
            <a:avLst/>
          </a:prstGeom>
        </p:spPr>
      </p:pic>
      <p:sp>
        <p:nvSpPr>
          <p:cNvPr id="31" name="Text 22"/>
          <p:cNvSpPr txBox="1"/>
          <p:nvPr/>
        </p:nvSpPr>
        <p:spPr>
          <a:xfrm>
            <a:off x="8869680" y="28346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Mạng nhiều camera và drone trên GIS</a:t>
            </a:r>
            <a:endParaRPr lang="en-US" sz="1450" dirty="0"/>
          </a:p>
        </p:txBody>
      </p:sp>
      <p:pic>
        <p:nvPicPr>
          <p:cNvPr id="32" name="Image 7" descr="preencoded.png">    </p:cNvPr>
          <p:cNvPicPr>
            <a:picLocks noChangeAspect="1"/>
          </p:cNvPicPr>
          <p:nvPr/>
        </p:nvPicPr>
        <p:blipFill>
          <a:blip r:embed="rId8"/>
          <a:stretch>
            <a:fillRect/>
          </a:stretch>
        </p:blipFill>
        <p:spPr>
          <a:xfrm>
            <a:off x="8485632" y="3785616"/>
            <a:ext cx="256032" cy="256032"/>
          </a:xfrm>
          <a:prstGeom prst="rect">
            <a:avLst/>
          </a:prstGeom>
        </p:spPr>
      </p:pic>
      <p:sp>
        <p:nvSpPr>
          <p:cNvPr id="33" name="Text 23"/>
          <p:cNvSpPr txBox="1"/>
          <p:nvPr/>
        </p:nvSpPr>
        <p:spPr>
          <a:xfrm>
            <a:off x="8869680" y="37490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Kết hợp lượng mưa, mực nước, thủy triều</a:t>
            </a:r>
            <a:endParaRPr lang="en-US" sz="1450" dirty="0"/>
          </a:p>
        </p:txBody>
      </p:sp>
      <p:pic>
        <p:nvPicPr>
          <p:cNvPr id="34" name="Image 8" descr="preencoded.png">    </p:cNvPr>
          <p:cNvPicPr>
            <a:picLocks noChangeAspect="1"/>
          </p:cNvPicPr>
          <p:nvPr/>
        </p:nvPicPr>
        <p:blipFill>
          <a:blip r:embed="rId9"/>
          <a:stretch>
            <a:fillRect/>
          </a:stretch>
        </p:blipFill>
        <p:spPr>
          <a:xfrm>
            <a:off x="8485632" y="4700016"/>
            <a:ext cx="256032" cy="256032"/>
          </a:xfrm>
          <a:prstGeom prst="rect">
            <a:avLst/>
          </a:prstGeom>
        </p:spPr>
      </p:pic>
      <p:sp>
        <p:nvSpPr>
          <p:cNvPr id="35" name="Text 24"/>
          <p:cNvSpPr txBox="1"/>
          <p:nvPr/>
        </p:nvSpPr>
        <p:spPr>
          <a:xfrm>
            <a:off x="8869680" y="4663440"/>
            <a:ext cx="2560320" cy="731520"/>
          </a:xfrm>
          <a:prstGeom prst="rect">
            <a:avLst/>
          </a:prstGeom>
          <a:noFill/>
          <a:ln/>
        </p:spPr>
        <p:txBody>
          <a:bodyPr wrap="square" lIns="0" tIns="0" rIns="0" bIns="0" rtlCol="0" anchor="t"/>
          <a:lstStyle/>
          <a:p>
            <a:pPr algn="l" indent="0" marL="0">
              <a:lnSpc>
                <a:spcPct val="105000"/>
              </a:lnSpc>
              <a:buNone/>
            </a:pPr>
            <a:r>
              <a:rPr lang="en-US" sz="1450" dirty="0">
                <a:solidFill>
                  <a:srgbClr val="E8EEF8"/>
                </a:solidFill>
                <a:latin typeface="Calibri" pitchFamily="34" charset="0"/>
                <a:ea typeface="Calibri" pitchFamily="34" charset="-122"/>
                <a:cs typeface="Calibri" pitchFamily="34" charset="-120"/>
              </a:rPr>
              <a:t>Mô hình dự báo theo thời gian (ConvLSTM)</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222"/>
        </a:solidFill>
      </p:bgPr>
    </p:bg>
    <p:spTree>
      <p:nvGrpSpPr>
        <p:cNvPr id="1" name=""/>
        <p:cNvGrpSpPr/>
        <p:nvPr/>
      </p:nvGrpSpPr>
      <p:grpSpPr>
        <a:xfrm>
          <a:off x="0" y="0"/>
          <a:ext cx="0" cy="0"/>
          <a:chOff x="0" y="0"/>
          <a:chExt cx="0" cy="0"/>
        </a:xfrm>
      </p:grpSpPr>
      <p:sp>
        <p:nvSpPr>
          <p:cNvPr id="2" name="Text 0"/>
          <p:cNvSpPr txBox="1"/>
          <p:nvPr/>
        </p:nvSpPr>
        <p:spPr>
          <a:xfrm>
            <a:off x="548640" y="777240"/>
            <a:ext cx="11094415" cy="822960"/>
          </a:xfrm>
          <a:prstGeom prst="rect">
            <a:avLst/>
          </a:prstGeom>
          <a:noFill/>
          <a:ln/>
        </p:spPr>
        <p:txBody>
          <a:bodyPr wrap="square" lIns="0" tIns="0" rIns="0" bIns="0" rtlCol="0" anchor="t"/>
          <a:lstStyle/>
          <a:p>
            <a:pPr algn="ctr" indent="0" marL="0">
              <a:lnSpc>
                <a:spcPct val="100000"/>
              </a:lnSpc>
              <a:buNone/>
            </a:pPr>
            <a:r>
              <a:rPr lang="en-US" sz="4000" b="1" dirty="0">
                <a:solidFill>
                  <a:srgbClr val="E8EEF8"/>
                </a:solidFill>
                <a:latin typeface="Arial" pitchFamily="34" charset="0"/>
                <a:ea typeface="Arial" pitchFamily="34" charset="-122"/>
                <a:cs typeface="Arial" pitchFamily="34" charset="-120"/>
              </a:rPr>
              <a:t>Nhìn thấy trước — để xử lý trước.</a:t>
            </a:r>
            <a:endParaRPr lang="en-US" sz="4000" dirty="0"/>
          </a:p>
        </p:txBody>
      </p:sp>
      <p:sp>
        <p:nvSpPr>
          <p:cNvPr id="3" name="Text 1"/>
          <p:cNvSpPr txBox="1"/>
          <p:nvPr/>
        </p:nvSpPr>
        <p:spPr>
          <a:xfrm>
            <a:off x="548640" y="1645920"/>
            <a:ext cx="11094415" cy="365760"/>
          </a:xfrm>
          <a:prstGeom prst="rect">
            <a:avLst/>
          </a:prstGeom>
          <a:noFill/>
          <a:ln/>
        </p:spPr>
        <p:txBody>
          <a:bodyPr wrap="square" lIns="0" tIns="0" rIns="0" bIns="0" rtlCol="0" anchor="t"/>
          <a:lstStyle/>
          <a:p>
            <a:pPr algn="ctr" indent="0" marL="0">
              <a:lnSpc>
                <a:spcPct val="100000"/>
              </a:lnSpc>
              <a:buNone/>
            </a:pPr>
            <a:r>
              <a:rPr lang="en-US" sz="1600" dirty="0">
                <a:solidFill>
                  <a:srgbClr val="2DD4BF"/>
                </a:solidFill>
                <a:latin typeface="Calibri" pitchFamily="34" charset="0"/>
                <a:ea typeface="Calibri" pitchFamily="34" charset="-122"/>
                <a:cs typeface="Calibri" pitchFamily="34" charset="-120"/>
              </a:rPr>
              <a:t>RiverGuard AI  ·  Bảng C  ·  Cuộc thi Sáng tạo trẻ Quốc gia về AI 2026</a:t>
            </a:r>
            <a:endParaRPr lang="en-US" sz="1600" dirty="0"/>
          </a:p>
        </p:txBody>
      </p:sp>
      <p:sp>
        <p:nvSpPr>
          <p:cNvPr id="4" name="Text 2"/>
          <p:cNvSpPr txBox="1"/>
          <p:nvPr/>
        </p:nvSpPr>
        <p:spPr>
          <a:xfrm>
            <a:off x="548640" y="2468880"/>
            <a:ext cx="11094415" cy="274320"/>
          </a:xfrm>
          <a:prstGeom prst="rect">
            <a:avLst/>
          </a:prstGeom>
          <a:noFill/>
          <a:ln/>
        </p:spPr>
        <p:txBody>
          <a:bodyPr wrap="square" lIns="0" tIns="0" rIns="0" bIns="0" rtlCol="0" anchor="t"/>
          <a:lstStyle/>
          <a:p>
            <a:pPr algn="ctr" indent="0" marL="0">
              <a:lnSpc>
                <a:spcPct val="100000"/>
              </a:lnSpc>
              <a:buNone/>
            </a:pPr>
            <a:r>
              <a:rPr lang="en-US" sz="1200" b="1" spc="200" kern="0" dirty="0">
                <a:solidFill>
                  <a:srgbClr val="93A6C6"/>
                </a:solidFill>
                <a:latin typeface="Arial" pitchFamily="34" charset="0"/>
                <a:ea typeface="Arial" pitchFamily="34" charset="-122"/>
                <a:cs typeface="Arial" pitchFamily="34" charset="-120"/>
              </a:rPr>
              <a:t>KÊ KHAI MINH BẠCH (ĐIỀU 5 THỂ LỆ)</a:t>
            </a:r>
            <a:endParaRPr lang="en-US" sz="1200" dirty="0"/>
          </a:p>
        </p:txBody>
      </p:sp>
      <p:sp>
        <p:nvSpPr>
          <p:cNvPr id="5" name="Shape 3"/>
          <p:cNvSpPr/>
          <p:nvPr/>
        </p:nvSpPr>
        <p:spPr>
          <a:xfrm>
            <a:off x="548640" y="2880360"/>
            <a:ext cx="3429000" cy="2377440"/>
          </a:xfrm>
          <a:prstGeom prst="roundRect">
            <a:avLst>
              <a:gd name="adj" fmla="val 3846"/>
            </a:avLst>
          </a:prstGeom>
          <a:solidFill>
            <a:srgbClr val="12233D"/>
          </a:solidFill>
          <a:ln w="9525">
            <a:solidFill>
              <a:srgbClr val="22395E"/>
            </a:solidFill>
            <a:prstDash val="solid"/>
          </a:ln>
        </p:spPr>
      </p:sp>
      <p:sp>
        <p:nvSpPr>
          <p:cNvPr id="6" name="Shape 4"/>
          <p:cNvSpPr/>
          <p:nvPr/>
        </p:nvSpPr>
        <p:spPr>
          <a:xfrm>
            <a:off x="822960" y="3108960"/>
            <a:ext cx="566928" cy="566928"/>
          </a:xfrm>
          <a:prstGeom prst="ellipse">
            <a:avLst/>
          </a:prstGeom>
          <a:solidFill>
            <a:srgbClr val="2DD4BF">
              <a:alpha val="18000"/>
            </a:srgbClr>
          </a:solidFill>
          <a:ln w="12700">
            <a:solidFill>
              <a:srgbClr val="2DD4BF">
                <a:alpha val="60000"/>
              </a:srgbClr>
            </a:solidFill>
            <a:prstDash val="solid"/>
          </a:ln>
        </p:spPr>
      </p:sp>
      <p:pic>
        <p:nvPicPr>
          <p:cNvPr id="7" name="Image 0" descr="preencoded.png">    </p:cNvPr>
          <p:cNvPicPr>
            <a:picLocks noChangeAspect="1"/>
          </p:cNvPicPr>
          <p:nvPr/>
        </p:nvPicPr>
        <p:blipFill>
          <a:blip r:embed="rId1"/>
          <a:stretch>
            <a:fillRect/>
          </a:stretch>
        </p:blipFill>
        <p:spPr>
          <a:xfrm>
            <a:off x="970361" y="3256361"/>
            <a:ext cx="272125" cy="272125"/>
          </a:xfrm>
          <a:prstGeom prst="rect">
            <a:avLst/>
          </a:prstGeom>
        </p:spPr>
      </p:pic>
      <p:sp>
        <p:nvSpPr>
          <p:cNvPr id="8" name="Text 5"/>
          <p:cNvSpPr txBox="1"/>
          <p:nvPr/>
        </p:nvSpPr>
        <p:spPr>
          <a:xfrm>
            <a:off x="1554480" y="3200400"/>
            <a:ext cx="2240280" cy="457200"/>
          </a:xfrm>
          <a:prstGeom prst="rect">
            <a:avLst/>
          </a:prstGeom>
          <a:noFill/>
          <a:ln/>
        </p:spPr>
        <p:txBody>
          <a:bodyPr wrap="square" lIns="0" tIns="0" rIns="0" bIns="0" rtlCol="0" anchor="ctr"/>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Đội xây dựng &amp; chịu trách nhiệm</a:t>
            </a:r>
            <a:endParaRPr lang="en-US" sz="1450" dirty="0"/>
          </a:p>
        </p:txBody>
      </p:sp>
      <p:sp>
        <p:nvSpPr>
          <p:cNvPr id="9" name="Text 6"/>
          <p:cNvSpPr txBox="1"/>
          <p:nvPr/>
        </p:nvSpPr>
        <p:spPr>
          <a:xfrm>
            <a:off x="822960" y="3886200"/>
            <a:ext cx="2880360" cy="1280160"/>
          </a:xfrm>
          <a:prstGeom prst="rect">
            <a:avLst/>
          </a:prstGeom>
          <a:noFill/>
          <a:ln/>
        </p:spPr>
        <p:txBody>
          <a:bodyPr wrap="square" lIns="0" tIns="0" rIns="0" bIns="0" rtlCol="0" anchor="t"/>
          <a:lstStyle/>
          <a:p>
            <a:pPr algn="l" indent="0" marL="0">
              <a:lnSpc>
                <a:spcPct val="105000"/>
              </a:lnSpc>
              <a:buNone/>
            </a:pPr>
            <a:r>
              <a:rPr lang="en-US" sz="1300" dirty="0">
                <a:solidFill>
                  <a:srgbClr val="93A6C6"/>
                </a:solidFill>
                <a:latin typeface="Calibri" pitchFamily="34" charset="0"/>
                <a:ea typeface="Calibri" pitchFamily="34" charset="-122"/>
                <a:cs typeface="Calibri" pitchFamily="34" charset="-120"/>
              </a:rPr>
              <a:t>Bài toán, kịch bản ứng dụng, kiến trúc và logic rủi ro; thu thập video; kiểm định dữ liệu và kết quả.</a:t>
            </a:r>
            <a:endParaRPr lang="en-US" sz="1300" dirty="0"/>
          </a:p>
        </p:txBody>
      </p:sp>
      <p:sp>
        <p:nvSpPr>
          <p:cNvPr id="10" name="Shape 7"/>
          <p:cNvSpPr/>
          <p:nvPr/>
        </p:nvSpPr>
        <p:spPr>
          <a:xfrm>
            <a:off x="4379976" y="2880360"/>
            <a:ext cx="3429000" cy="2377440"/>
          </a:xfrm>
          <a:prstGeom prst="roundRect">
            <a:avLst>
              <a:gd name="adj" fmla="val 3846"/>
            </a:avLst>
          </a:prstGeom>
          <a:solidFill>
            <a:srgbClr val="12233D"/>
          </a:solidFill>
          <a:ln w="9525">
            <a:solidFill>
              <a:srgbClr val="22395E"/>
            </a:solidFill>
            <a:prstDash val="solid"/>
          </a:ln>
        </p:spPr>
      </p:sp>
      <p:sp>
        <p:nvSpPr>
          <p:cNvPr id="11" name="Shape 8"/>
          <p:cNvSpPr/>
          <p:nvPr/>
        </p:nvSpPr>
        <p:spPr>
          <a:xfrm>
            <a:off x="4654296" y="3108960"/>
            <a:ext cx="566928" cy="566928"/>
          </a:xfrm>
          <a:prstGeom prst="ellipse">
            <a:avLst/>
          </a:prstGeom>
          <a:solidFill>
            <a:srgbClr val="F59E0B">
              <a:alpha val="18000"/>
            </a:srgbClr>
          </a:solidFill>
          <a:ln w="12700">
            <a:solidFill>
              <a:srgbClr val="F59E0B">
                <a:alpha val="60000"/>
              </a:srgbClr>
            </a:solidFill>
            <a:prstDash val="solid"/>
          </a:ln>
        </p:spPr>
      </p:sp>
      <p:pic>
        <p:nvPicPr>
          <p:cNvPr id="12" name="Image 1" descr="preencoded.png">    </p:cNvPr>
          <p:cNvPicPr>
            <a:picLocks noChangeAspect="1"/>
          </p:cNvPicPr>
          <p:nvPr/>
        </p:nvPicPr>
        <p:blipFill>
          <a:blip r:embed="rId2"/>
          <a:stretch>
            <a:fillRect/>
          </a:stretch>
        </p:blipFill>
        <p:spPr>
          <a:xfrm>
            <a:off x="4801697" y="3256361"/>
            <a:ext cx="272125" cy="272125"/>
          </a:xfrm>
          <a:prstGeom prst="rect">
            <a:avLst/>
          </a:prstGeom>
        </p:spPr>
      </p:pic>
      <p:sp>
        <p:nvSpPr>
          <p:cNvPr id="13" name="Text 9"/>
          <p:cNvSpPr txBox="1"/>
          <p:nvPr/>
        </p:nvSpPr>
        <p:spPr>
          <a:xfrm>
            <a:off x="5385816" y="3200400"/>
            <a:ext cx="2240280" cy="457200"/>
          </a:xfrm>
          <a:prstGeom prst="rect">
            <a:avLst/>
          </a:prstGeom>
          <a:noFill/>
          <a:ln/>
        </p:spPr>
        <p:txBody>
          <a:bodyPr wrap="square" lIns="0" tIns="0" rIns="0" bIns="0" rtlCol="0" anchor="ctr"/>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AI hỗ trợ</a:t>
            </a:r>
            <a:endParaRPr lang="en-US" sz="1450" dirty="0"/>
          </a:p>
        </p:txBody>
      </p:sp>
      <p:sp>
        <p:nvSpPr>
          <p:cNvPr id="14" name="Text 10"/>
          <p:cNvSpPr txBox="1"/>
          <p:nvPr/>
        </p:nvSpPr>
        <p:spPr>
          <a:xfrm>
            <a:off x="4654296" y="3886200"/>
            <a:ext cx="2880360" cy="1280160"/>
          </a:xfrm>
          <a:prstGeom prst="rect">
            <a:avLst/>
          </a:prstGeom>
          <a:noFill/>
          <a:ln/>
        </p:spPr>
        <p:txBody>
          <a:bodyPr wrap="square" lIns="0" tIns="0" rIns="0" bIns="0" rtlCol="0" anchor="t"/>
          <a:lstStyle/>
          <a:p>
            <a:pPr algn="l" indent="0" marL="0">
              <a:lnSpc>
                <a:spcPct val="105000"/>
              </a:lnSpc>
              <a:buNone/>
            </a:pPr>
            <a:r>
              <a:rPr lang="en-US" sz="1300" dirty="0">
                <a:solidFill>
                  <a:srgbClr val="93A6C6"/>
                </a:solidFill>
                <a:latin typeface="Calibri" pitchFamily="34" charset="0"/>
                <a:ea typeface="Calibri" pitchFamily="34" charset="-122"/>
                <a:cs typeface="Calibri" pitchFamily="34" charset="-120"/>
              </a:rPr>
              <a:t>Lập trình có hỗ trợ AI (Claude Code) cho phần lớn mã nguồn; đội rà soát và kiểm thử. Prompt Log đầy đủ đính kèm.</a:t>
            </a:r>
            <a:endParaRPr lang="en-US" sz="1300" dirty="0"/>
          </a:p>
        </p:txBody>
      </p:sp>
      <p:sp>
        <p:nvSpPr>
          <p:cNvPr id="15" name="Shape 11"/>
          <p:cNvSpPr/>
          <p:nvPr/>
        </p:nvSpPr>
        <p:spPr>
          <a:xfrm>
            <a:off x="8211312" y="2880360"/>
            <a:ext cx="3429000" cy="2377440"/>
          </a:xfrm>
          <a:prstGeom prst="roundRect">
            <a:avLst>
              <a:gd name="adj" fmla="val 3846"/>
            </a:avLst>
          </a:prstGeom>
          <a:solidFill>
            <a:srgbClr val="12233D"/>
          </a:solidFill>
          <a:ln w="9525">
            <a:solidFill>
              <a:srgbClr val="22395E"/>
            </a:solidFill>
            <a:prstDash val="solid"/>
          </a:ln>
        </p:spPr>
      </p:sp>
      <p:sp>
        <p:nvSpPr>
          <p:cNvPr id="16" name="Shape 12"/>
          <p:cNvSpPr/>
          <p:nvPr/>
        </p:nvSpPr>
        <p:spPr>
          <a:xfrm>
            <a:off x="8485632" y="3108960"/>
            <a:ext cx="566928" cy="566928"/>
          </a:xfrm>
          <a:prstGeom prst="ellipse">
            <a:avLst/>
          </a:prstGeom>
          <a:solidFill>
            <a:srgbClr val="A78BFA">
              <a:alpha val="18000"/>
            </a:srgbClr>
          </a:solidFill>
          <a:ln w="12700">
            <a:solidFill>
              <a:srgbClr val="A78BFA">
                <a:alpha val="60000"/>
              </a:srgbClr>
            </a:solidFill>
            <a:prstDash val="solid"/>
          </a:ln>
        </p:spPr>
      </p:sp>
      <p:pic>
        <p:nvPicPr>
          <p:cNvPr id="17" name="Image 2" descr="preencoded.png">    </p:cNvPr>
          <p:cNvPicPr>
            <a:picLocks noChangeAspect="1"/>
          </p:cNvPicPr>
          <p:nvPr/>
        </p:nvPicPr>
        <p:blipFill>
          <a:blip r:embed="rId3"/>
          <a:stretch>
            <a:fillRect/>
          </a:stretch>
        </p:blipFill>
        <p:spPr>
          <a:xfrm>
            <a:off x="8633033" y="3256361"/>
            <a:ext cx="272125" cy="272125"/>
          </a:xfrm>
          <a:prstGeom prst="rect">
            <a:avLst/>
          </a:prstGeom>
        </p:spPr>
      </p:pic>
      <p:sp>
        <p:nvSpPr>
          <p:cNvPr id="18" name="Text 13"/>
          <p:cNvSpPr txBox="1"/>
          <p:nvPr/>
        </p:nvSpPr>
        <p:spPr>
          <a:xfrm>
            <a:off x="9217152" y="3200400"/>
            <a:ext cx="2240280" cy="457200"/>
          </a:xfrm>
          <a:prstGeom prst="rect">
            <a:avLst/>
          </a:prstGeom>
          <a:noFill/>
          <a:ln/>
        </p:spPr>
        <p:txBody>
          <a:bodyPr wrap="square" lIns="0" tIns="0" rIns="0" bIns="0" rtlCol="0" anchor="ctr"/>
          <a:lstStyle/>
          <a:p>
            <a:pPr algn="l" indent="0" marL="0">
              <a:lnSpc>
                <a:spcPct val="100000"/>
              </a:lnSpc>
              <a:buNone/>
            </a:pPr>
            <a:r>
              <a:rPr lang="en-US" sz="1450" b="1" dirty="0">
                <a:solidFill>
                  <a:srgbClr val="E8EEF8"/>
                </a:solidFill>
                <a:latin typeface="Arial" pitchFamily="34" charset="0"/>
                <a:ea typeface="Arial" pitchFamily="34" charset="-122"/>
                <a:cs typeface="Arial" pitchFamily="34" charset="-120"/>
              </a:rPr>
              <a:t>Kế thừa nguồn mở</a:t>
            </a:r>
            <a:endParaRPr lang="en-US" sz="1450" dirty="0"/>
          </a:p>
        </p:txBody>
      </p:sp>
      <p:sp>
        <p:nvSpPr>
          <p:cNvPr id="19" name="Text 14"/>
          <p:cNvSpPr txBox="1"/>
          <p:nvPr/>
        </p:nvSpPr>
        <p:spPr>
          <a:xfrm>
            <a:off x="8485632" y="3886200"/>
            <a:ext cx="2880360" cy="1280160"/>
          </a:xfrm>
          <a:prstGeom prst="rect">
            <a:avLst/>
          </a:prstGeom>
          <a:noFill/>
          <a:ln/>
        </p:spPr>
        <p:txBody>
          <a:bodyPr wrap="square" lIns="0" tIns="0" rIns="0" bIns="0" rtlCol="0" anchor="t"/>
          <a:lstStyle/>
          <a:p>
            <a:pPr algn="l" indent="0" marL="0">
              <a:lnSpc>
                <a:spcPct val="105000"/>
              </a:lnSpc>
              <a:buNone/>
            </a:pPr>
            <a:r>
              <a:rPr lang="en-US" sz="1300" dirty="0">
                <a:solidFill>
                  <a:srgbClr val="93A6C6"/>
                </a:solidFill>
                <a:latin typeface="Calibri" pitchFamily="34" charset="0"/>
                <a:ea typeface="Calibri" pitchFamily="34" charset="-122"/>
                <a:cs typeface="Calibri" pitchFamily="34" charset="-120"/>
              </a:rPr>
              <a:t>YOLO-World (Ultralytics), OpenCV, FastAPI, Leaflet và OpenStreetMap; dữ liệu RiSID (Kataoka et al., 2024).</a:t>
            </a:r>
            <a:endParaRPr lang="en-US" sz="1300" dirty="0"/>
          </a:p>
        </p:txBody>
      </p:sp>
      <p:sp>
        <p:nvSpPr>
          <p:cNvPr id="20" name="Text 15"/>
          <p:cNvSpPr txBox="1"/>
          <p:nvPr/>
        </p:nvSpPr>
        <p:spPr>
          <a:xfrm>
            <a:off x="548640" y="5577840"/>
            <a:ext cx="11094415" cy="320040"/>
          </a:xfrm>
          <a:prstGeom prst="rect">
            <a:avLst/>
          </a:prstGeom>
          <a:noFill/>
          <a:ln/>
        </p:spPr>
        <p:txBody>
          <a:bodyPr wrap="square" lIns="0" tIns="0" rIns="0" bIns="0" rtlCol="0" anchor="t"/>
          <a:lstStyle/>
          <a:p>
            <a:pPr algn="ctr" indent="0" marL="0">
              <a:lnSpc>
                <a:spcPct val="100000"/>
              </a:lnSpc>
              <a:buNone/>
            </a:pPr>
            <a:r>
              <a:rPr lang="en-US" sz="1400" dirty="0">
                <a:solidFill>
                  <a:srgbClr val="E8EEF8"/>
                </a:solidFill>
                <a:latin typeface="Calibri" pitchFamily="34" charset="0"/>
                <a:ea typeface="Calibri" pitchFamily="34" charset="-122"/>
                <a:cs typeface="Calibri" pitchFamily="34" charset="-120"/>
              </a:rPr>
              <a:t>Mã nguồn: [link GitHub của đội]</a:t>
            </a:r>
            <a:endParaRPr lang="en-US" sz="1400" dirty="0"/>
          </a:p>
        </p:txBody>
      </p:sp>
      <p:sp>
        <p:nvSpPr>
          <p:cNvPr id="21" name="Text 16"/>
          <p:cNvSpPr txBox="1"/>
          <p:nvPr/>
        </p:nvSpPr>
        <p:spPr>
          <a:xfrm>
            <a:off x="548640" y="5989320"/>
            <a:ext cx="11094415" cy="411480"/>
          </a:xfrm>
          <a:prstGeom prst="rect">
            <a:avLst/>
          </a:prstGeom>
          <a:noFill/>
          <a:ln/>
        </p:spPr>
        <p:txBody>
          <a:bodyPr wrap="square" lIns="0" tIns="0" rIns="0" bIns="0" rtlCol="0" anchor="t"/>
          <a:lstStyle/>
          <a:p>
            <a:pPr algn="ctr" indent="0" marL="0">
              <a:lnSpc>
                <a:spcPct val="100000"/>
              </a:lnSpc>
              <a:buNone/>
            </a:pPr>
            <a:r>
              <a:rPr lang="en-US" sz="2000" b="1" dirty="0">
                <a:solidFill>
                  <a:srgbClr val="2DD4BF"/>
                </a:solidFill>
                <a:latin typeface="Calibri" pitchFamily="34" charset="0"/>
                <a:ea typeface="Calibri" pitchFamily="34" charset="-122"/>
                <a:cs typeface="Calibri" pitchFamily="34" charset="-120"/>
              </a:rPr>
              <a:t>Cảm ơn Ban Giám khảo!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RiverGuard AI — Thuyết trình Vòng loại</dc:title>
  <dc:subject>PptxGenJS Presentation</dc:subject>
  <dc:creator>RiverGuard AI</dc:creator>
  <cp:lastModifiedBy>RiverGuard AI</cp:lastModifiedBy>
  <cp:revision>1</cp:revision>
  <dcterms:created xsi:type="dcterms:W3CDTF">2026-09-27T21:11:04Z</dcterms:created>
  <dcterms:modified xsi:type="dcterms:W3CDTF">2026-09-27T21:11:04Z</dcterms:modified>
</cp:coreProperties>
</file>